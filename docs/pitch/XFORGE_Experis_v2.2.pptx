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SP</c:v>
                </c:pt>
              </c:strCache>
            </c:strRef>
          </c:tx>
          <c:spPr>
            <a:solidFill>
              <a:srgbClr val="1B3A6B"/>
            </a:solidFill>
            <a:effectLst/>
          </c:spPr>
          <c:invertIfNegative val="0"/>
          <c:dLbls>
            <c:numFmt formatCode="#,##0" sourceLinked="0"/>
            <c:txPr>
              <a:bodyPr/>
              <a:lstStyle/>
              <a:p>
                <a:pPr>
                  <a:defRPr b="0" i="0" strike="noStrike" sz="1200" u="none">
                    <a:solidFill>
                      <a:srgbClr val="1B3A6B"/>
                    </a:solidFill>
                    <a:latin typeface="Arial"/>
                  </a:defRPr>
                </a:pPr>
              </a:p>
            </c:txPr>
            <c:showLegendKey val="0"/>
            <c:showVal val="1"/>
            <c:showCatName val="0"/>
            <c:showSerName val="0"/>
            <c:showPercent val="0"/>
            <c:showBubbleSize val="0"/>
            <c:showLeaderLines val="0"/>
          </c:dLbls>
          <c:cat>
            <c:multiLvlStrRef>
              <c:f>Sheet1!$A$2:$A$19</c:f>
              <c:multiLvlStrCache>
                <c:ptCount val="18"/>
                <c:lvl>
                  <c:pt idx="0">
                    <c:v>S1</c:v>
                  </c:pt>
                  <c:pt idx="1">
                    <c:v>S2</c:v>
                  </c:pt>
                  <c:pt idx="2">
                    <c:v>S3</c:v>
                  </c:pt>
                  <c:pt idx="3">
                    <c:v>S4</c:v>
                  </c:pt>
                  <c:pt idx="4">
                    <c:v>S5</c:v>
                  </c:pt>
                  <c:pt idx="5">
                    <c:v>S6</c:v>
                  </c:pt>
                  <c:pt idx="6">
                    <c:v>S7</c:v>
                  </c:pt>
                  <c:pt idx="7">
                    <c:v>S8</c:v>
                  </c:pt>
                  <c:pt idx="8">
                    <c:v>S9</c:v>
                  </c:pt>
                  <c:pt idx="9">
                    <c:v>S10</c:v>
                  </c:pt>
                  <c:pt idx="10">
                    <c:v>S11</c:v>
                  </c:pt>
                  <c:pt idx="11">
                    <c:v>S12</c:v>
                  </c:pt>
                  <c:pt idx="12">
                    <c:v>S13</c:v>
                  </c:pt>
                  <c:pt idx="13">
                    <c:v>S14</c:v>
                  </c:pt>
                  <c:pt idx="14">
                    <c:v>S15</c:v>
                  </c:pt>
                  <c:pt idx="15">
                    <c:v>S16</c:v>
                  </c:pt>
                  <c:pt idx="16">
                    <c:v>S17</c:v>
                  </c:pt>
                  <c:pt idx="17">
                    <c:v>S18</c:v>
                  </c:pt>
                </c:lvl>
              </c:multiLvlStrCache>
            </c:multiLvlStrRef>
          </c:cat>
          <c:val>
            <c:numRef>
              <c:f>Sheet1!$B$2:$B$19</c:f>
              <c:numCache>
                <c:formatCode>General</c:formatCode>
                <c:ptCount val="18"/>
                <c:pt idx="0">
                  <c:v>22</c:v>
                </c:pt>
                <c:pt idx="1">
                  <c:v>24</c:v>
                </c:pt>
                <c:pt idx="2">
                  <c:v>24</c:v>
                </c:pt>
                <c:pt idx="3">
                  <c:v>24</c:v>
                </c:pt>
                <c:pt idx="4">
                  <c:v>24</c:v>
                </c:pt>
                <c:pt idx="5">
                  <c:v>24</c:v>
                </c:pt>
                <c:pt idx="6">
                  <c:v>24</c:v>
                </c:pt>
                <c:pt idx="7">
                  <c:v>24</c:v>
                </c:pt>
                <c:pt idx="8">
                  <c:v>24</c:v>
                </c:pt>
                <c:pt idx="9">
                  <c:v>24</c:v>
                </c:pt>
                <c:pt idx="10">
                  <c:v>24</c:v>
                </c:pt>
                <c:pt idx="11">
                  <c:v>24</c:v>
                </c:pt>
                <c:pt idx="12">
                  <c:v>24</c:v>
                </c:pt>
                <c:pt idx="13">
                  <c:v>24</c:v>
                </c:pt>
                <c:pt idx="14">
                  <c:v>24</c:v>
                </c:pt>
                <c:pt idx="15">
                  <c:v>24</c:v>
                </c:pt>
                <c:pt idx="16">
                  <c:v>24</c:v>
                </c:pt>
                <c:pt idx="17">
                  <c:v>24</c:v>
                </c:pt>
              </c:numCache>
            </c:numRef>
          </c:val>
        </c:ser>
        <c:dLbls>
          <c:numFmt formatCode="#,##0" sourceLinked="0"/>
          <c:txPr>
            <a:bodyPr/>
            <a:lstStyle/>
            <a:p>
              <a:pPr>
                <a:defRPr b="0" i="0" strike="noStrike" sz="1200" u="none">
                  <a:solidFill>
                    <a:srgbClr val="1B3A6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25"/>
          <c:min val="20"/>
        </c:scaling>
        <c:delete val="0"/>
        <c:axPos val="l"/>
        <c:majorGridlines>
          <c:spPr>
            <a:ln w="6350" cap="flat">
              <a:solidFill>
                <a:srgbClr val="E8EC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E5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4A14"/>
          </a:solidFill>
          <a:ln w="12700">
            <a:solidFill>
              <a:srgbClr val="C84A14"/>
            </a:solidFill>
            <a:prstDash val="solid"/>
          </a:ln>
        </p:spPr>
      </p:sp>
      <p:sp>
        <p:nvSpPr>
          <p:cNvPr id="3" name="Shape 1"/>
          <p:cNvSpPr/>
          <p:nvPr/>
        </p:nvSpPr>
        <p:spPr>
          <a:xfrm>
            <a:off x="5669280" y="914400"/>
            <a:ext cx="4754880" cy="4754880"/>
          </a:xfrm>
          <a:prstGeom prst="ellipse">
            <a:avLst/>
          </a:prstGeom>
          <a:solidFill>
            <a:srgbClr val="3D5A80">
              <a:alpha val="30000"/>
            </a:srgbClr>
          </a:solidFill>
          <a:ln w="12700">
            <a:solidFill>
              <a:srgbClr val="3D5A80"/>
            </a:solidFill>
            <a:prstDash val="solid"/>
          </a:ln>
        </p:spPr>
      </p:sp>
      <p:sp>
        <p:nvSpPr>
          <p:cNvPr id="4" name="Shape 2"/>
          <p:cNvSpPr/>
          <p:nvPr/>
        </p:nvSpPr>
        <p:spPr>
          <a:xfrm>
            <a:off x="6766560" y="2011680"/>
            <a:ext cx="3200400" cy="3200400"/>
          </a:xfrm>
          <a:prstGeom prst="ellipse">
            <a:avLst/>
          </a:prstGeom>
          <a:solidFill>
            <a:srgbClr val="2F6B61">
              <a:alpha val="25000"/>
            </a:srgbClr>
          </a:solidFill>
          <a:ln w="12700">
            <a:solidFill>
              <a:srgbClr val="2F6B61"/>
            </a:solidFill>
            <a:prstDash val="solid"/>
          </a:ln>
        </p:spPr>
      </p:sp>
      <p:sp>
        <p:nvSpPr>
          <p:cNvPr id="5" name="Text 3"/>
          <p:cNvSpPr/>
          <p:nvPr/>
        </p:nvSpPr>
        <p:spPr>
          <a:xfrm>
            <a:off x="6949440" y="1371600"/>
            <a:ext cx="1828800" cy="1828800"/>
          </a:xfrm>
          <a:prstGeom prst="rect">
            <a:avLst/>
          </a:prstGeom>
          <a:noFill/>
          <a:ln/>
        </p:spPr>
        <p:txBody>
          <a:bodyPr wrap="square" rtlCol="0" anchor="ctr"/>
          <a:lstStyle/>
          <a:p>
            <a:pPr algn="ctr" indent="0" marL="0">
              <a:buNone/>
            </a:pPr>
            <a:r>
              <a:rPr lang="en-US" sz="8000" dirty="0">
                <a:solidFill>
                  <a:srgbClr val="000000"/>
                </a:solidFill>
              </a:rPr>
              <a:t>🤖</a:t>
            </a:r>
            <a:endParaRPr lang="en-US" sz="8000" dirty="0"/>
          </a:p>
        </p:txBody>
      </p:sp>
      <p:sp>
        <p:nvSpPr>
          <p:cNvPr id="6" name="Shape 4"/>
          <p:cNvSpPr/>
          <p:nvPr/>
        </p:nvSpPr>
        <p:spPr>
          <a:xfrm>
            <a:off x="457200" y="822960"/>
            <a:ext cx="109728" cy="2194560"/>
          </a:xfrm>
          <a:prstGeom prst="rect">
            <a:avLst/>
          </a:prstGeom>
          <a:solidFill>
            <a:srgbClr val="C84A14"/>
          </a:solidFill>
          <a:ln w="12700">
            <a:solidFill>
              <a:srgbClr val="C84A14"/>
            </a:solidFill>
            <a:prstDash val="solid"/>
          </a:ln>
        </p:spPr>
      </p:sp>
      <p:sp>
        <p:nvSpPr>
          <p:cNvPr id="7" name="Text 5"/>
          <p:cNvSpPr/>
          <p:nvPr/>
        </p:nvSpPr>
        <p:spPr>
          <a:xfrm>
            <a:off x="640080" y="777240"/>
            <a:ext cx="5943600" cy="1371600"/>
          </a:xfrm>
          <a:prstGeom prst="rect">
            <a:avLst/>
          </a:prstGeom>
          <a:noFill/>
          <a:ln/>
        </p:spPr>
        <p:txBody>
          <a:bodyPr wrap="square" lIns="0" tIns="0" rIns="0" bIns="0" rtlCol="0" anchor="ctr"/>
          <a:lstStyle/>
          <a:p>
            <a:pPr indent="0" marL="0">
              <a:buNone/>
            </a:pPr>
            <a:r>
              <a:rPr lang="en-US" sz="7200" b="1" dirty="0">
                <a:solidFill>
                  <a:srgbClr val="FFFFFF"/>
                </a:solidFill>
                <a:latin typeface="Arial Black" pitchFamily="34" charset="0"/>
                <a:ea typeface="Arial Black" pitchFamily="34" charset="-122"/>
                <a:cs typeface="Arial Black" pitchFamily="34" charset="-120"/>
              </a:rPr>
              <a:t>XFORGE</a:t>
            </a:r>
            <a:endParaRPr lang="en-US" sz="7200" dirty="0"/>
          </a:p>
        </p:txBody>
      </p:sp>
      <p:sp>
        <p:nvSpPr>
          <p:cNvPr id="8" name="Text 6"/>
          <p:cNvSpPr/>
          <p:nvPr/>
        </p:nvSpPr>
        <p:spPr>
          <a:xfrm>
            <a:off x="640080" y="2148840"/>
            <a:ext cx="5486400" cy="457200"/>
          </a:xfrm>
          <a:prstGeom prst="rect">
            <a:avLst/>
          </a:prstGeom>
          <a:noFill/>
          <a:ln/>
        </p:spPr>
        <p:txBody>
          <a:bodyPr wrap="square" lIns="0" tIns="0" rIns="0" bIns="0" rtlCol="0" anchor="ctr"/>
          <a:lstStyle/>
          <a:p>
            <a:pPr indent="0" marL="0">
              <a:buNone/>
            </a:pPr>
            <a:r>
              <a:rPr lang="en-US" sz="2000" i="1" dirty="0">
                <a:solidFill>
                  <a:srgbClr val="C84A14"/>
                </a:solidFill>
                <a:latin typeface="Arial" pitchFamily="34" charset="0"/>
                <a:ea typeface="Arial" pitchFamily="34" charset="-122"/>
                <a:cs typeface="Arial" pitchFamily="34" charset="-120"/>
              </a:rPr>
              <a:t>Forge faster. Deliver stronger.</a:t>
            </a:r>
            <a:endParaRPr lang="en-US" sz="2000" dirty="0"/>
          </a:p>
        </p:txBody>
      </p:sp>
      <p:sp>
        <p:nvSpPr>
          <p:cNvPr id="9" name="Shape 7"/>
          <p:cNvSpPr/>
          <p:nvPr/>
        </p:nvSpPr>
        <p:spPr>
          <a:xfrm>
            <a:off x="640080" y="2697480"/>
            <a:ext cx="4572000" cy="36576"/>
          </a:xfrm>
          <a:prstGeom prst="rect">
            <a:avLst/>
          </a:prstGeom>
          <a:solidFill>
            <a:srgbClr val="C84A14"/>
          </a:solidFill>
          <a:ln w="12700">
            <a:solidFill>
              <a:srgbClr val="C84A14"/>
            </a:solidFill>
            <a:prstDash val="solid"/>
          </a:ln>
        </p:spPr>
      </p:sp>
      <p:sp>
        <p:nvSpPr>
          <p:cNvPr id="10" name="Text 8"/>
          <p:cNvSpPr/>
          <p:nvPr/>
        </p:nvSpPr>
        <p:spPr>
          <a:xfrm>
            <a:off x="640080" y="2834640"/>
            <a:ext cx="5669280" cy="365760"/>
          </a:xfrm>
          <a:prstGeom prst="rect">
            <a:avLst/>
          </a:prstGeom>
          <a:noFill/>
          <a:ln/>
        </p:spPr>
        <p:txBody>
          <a:bodyPr wrap="square" lIns="0" tIns="0" rIns="0" bIns="0" rtlCol="0" anchor="ctr"/>
          <a:lstStyle/>
          <a:p>
            <a:pPr indent="0" marL="0">
              <a:buNone/>
            </a:pPr>
            <a:r>
              <a:rPr lang="en-US" sz="1600" dirty="0">
                <a:solidFill>
                  <a:srgbClr val="E8ECF0"/>
                </a:solidFill>
                <a:latin typeface="Arial" pitchFamily="34" charset="0"/>
                <a:ea typeface="Arial" pitchFamily="34" charset="-122"/>
                <a:cs typeface="Arial" pitchFamily="34" charset="-120"/>
              </a:rPr>
              <a:t>La Factoría de Software con IA de Experis</a:t>
            </a:r>
            <a:endParaRPr lang="en-US" sz="1600" dirty="0"/>
          </a:p>
        </p:txBody>
      </p:sp>
      <p:sp>
        <p:nvSpPr>
          <p:cNvPr id="11" name="Text 9"/>
          <p:cNvSpPr/>
          <p:nvPr/>
        </p:nvSpPr>
        <p:spPr>
          <a:xfrm>
            <a:off x="640080" y="3246120"/>
            <a:ext cx="5486400" cy="457200"/>
          </a:xfrm>
          <a:prstGeom prst="rect">
            <a:avLst/>
          </a:prstGeom>
          <a:noFill/>
          <a:ln/>
        </p:spPr>
        <p:txBody>
          <a:bodyPr wrap="square" lIns="0" tIns="0" rIns="0" bIns="0" rtlCol="0" anchor="ctr"/>
          <a:lstStyle/>
          <a:p>
            <a:pPr indent="0" marL="0">
              <a:buNone/>
            </a:pPr>
            <a:r>
              <a:rPr lang="en-US" sz="1300" dirty="0">
                <a:solidFill>
                  <a:srgbClr val="64748B"/>
                </a:solidFill>
                <a:latin typeface="Arial" pitchFamily="34" charset="0"/>
                <a:ea typeface="Arial" pitchFamily="34" charset="-122"/>
                <a:cs typeface="Arial" pitchFamily="34" charset="-120"/>
              </a:rPr>
              <a:t>Automatización inteligente de proyectos de software, de principio a fin.</a:t>
            </a:r>
            <a:endParaRPr lang="en-US" sz="1300" dirty="0"/>
          </a:p>
        </p:txBody>
      </p:sp>
      <p:sp>
        <p:nvSpPr>
          <p:cNvPr id="12" name="Shape 10"/>
          <p:cNvSpPr/>
          <p:nvPr/>
        </p:nvSpPr>
        <p:spPr>
          <a:xfrm>
            <a:off x="640080" y="3931920"/>
            <a:ext cx="1417320" cy="292608"/>
          </a:xfrm>
          <a:prstGeom prst="rect">
            <a:avLst/>
          </a:prstGeom>
          <a:solidFill>
            <a:srgbClr val="C84A14"/>
          </a:solidFill>
          <a:ln w="12700">
            <a:solidFill>
              <a:srgbClr val="C84A14"/>
            </a:solidFill>
            <a:prstDash val="solid"/>
          </a:ln>
        </p:spPr>
      </p:sp>
      <p:sp>
        <p:nvSpPr>
          <p:cNvPr id="13" name="Text 11"/>
          <p:cNvSpPr/>
          <p:nvPr/>
        </p:nvSpPr>
        <p:spPr>
          <a:xfrm>
            <a:off x="640080" y="3931920"/>
            <a:ext cx="1417320" cy="29260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v2.2</a:t>
            </a:r>
            <a:endParaRPr lang="en-US" sz="950" dirty="0"/>
          </a:p>
        </p:txBody>
      </p:sp>
      <p:sp>
        <p:nvSpPr>
          <p:cNvPr id="14" name="Shape 12"/>
          <p:cNvSpPr/>
          <p:nvPr/>
        </p:nvSpPr>
        <p:spPr>
          <a:xfrm>
            <a:off x="2240280" y="3931920"/>
            <a:ext cx="1417320" cy="292608"/>
          </a:xfrm>
          <a:prstGeom prst="rect">
            <a:avLst/>
          </a:prstGeom>
          <a:solidFill>
            <a:srgbClr val="2F6B61"/>
          </a:solidFill>
          <a:ln w="12700">
            <a:solidFill>
              <a:srgbClr val="2F6B61"/>
            </a:solidFill>
            <a:prstDash val="solid"/>
          </a:ln>
        </p:spPr>
      </p:sp>
      <p:sp>
        <p:nvSpPr>
          <p:cNvPr id="15" name="Text 13"/>
          <p:cNvSpPr/>
          <p:nvPr/>
        </p:nvSpPr>
        <p:spPr>
          <a:xfrm>
            <a:off x="2240280" y="3931920"/>
            <a:ext cx="1417320" cy="29260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20 Agentes</a:t>
            </a:r>
            <a:endParaRPr lang="en-US" sz="950" dirty="0"/>
          </a:p>
        </p:txBody>
      </p:sp>
      <p:sp>
        <p:nvSpPr>
          <p:cNvPr id="16" name="Shape 14"/>
          <p:cNvSpPr/>
          <p:nvPr/>
        </p:nvSpPr>
        <p:spPr>
          <a:xfrm>
            <a:off x="3840480" y="3931920"/>
            <a:ext cx="1417320" cy="292608"/>
          </a:xfrm>
          <a:prstGeom prst="rect">
            <a:avLst/>
          </a:prstGeom>
          <a:solidFill>
            <a:srgbClr val="1B3A6B"/>
          </a:solidFill>
          <a:ln w="12700">
            <a:solidFill>
              <a:srgbClr val="1B3A6B"/>
            </a:solidFill>
            <a:prstDash val="solid"/>
          </a:ln>
        </p:spPr>
      </p:sp>
      <p:sp>
        <p:nvSpPr>
          <p:cNvPr id="17" name="Text 15"/>
          <p:cNvSpPr/>
          <p:nvPr/>
        </p:nvSpPr>
        <p:spPr>
          <a:xfrm>
            <a:off x="3840480" y="3931920"/>
            <a:ext cx="1417320" cy="292608"/>
          </a:xfrm>
          <a:prstGeom prst="rect">
            <a:avLst/>
          </a:prstGeom>
          <a:noFill/>
          <a:ln/>
        </p:spPr>
        <p:txBody>
          <a:bodyPr wrap="square"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CMMI L3</a:t>
            </a:r>
            <a:endParaRPr lang="en-US" sz="950" dirty="0"/>
          </a:p>
        </p:txBody>
      </p:sp>
      <p:sp>
        <p:nvSpPr>
          <p:cNvPr id="18" name="Text 16"/>
          <p:cNvSpPr/>
          <p:nvPr/>
        </p:nvSpPr>
        <p:spPr>
          <a:xfrm>
            <a:off x="0" y="4846320"/>
            <a:ext cx="9144000" cy="22860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CONFIDENCIAL · Experis Spain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62E54"/>
          </a:solidFill>
          <a:ln w="12700">
            <a:solidFill>
              <a:srgbClr val="162E54"/>
            </a:solidFill>
            <a:prstDash val="solid"/>
          </a:ln>
        </p:spPr>
      </p:sp>
      <p:sp>
        <p:nvSpPr>
          <p:cNvPr id="3" name="Shape 1"/>
          <p:cNvSpPr/>
          <p:nvPr/>
        </p:nvSpPr>
        <p:spPr>
          <a:xfrm>
            <a:off x="0" y="0"/>
            <a:ext cx="9144000" cy="64008"/>
          </a:xfrm>
          <a:prstGeom prst="rect">
            <a:avLst/>
          </a:prstGeom>
          <a:solidFill>
            <a:srgbClr val="C84A14"/>
          </a:solidFill>
          <a:ln w="12700">
            <a:solidFill>
              <a:srgbClr val="C84A14"/>
            </a:solidFill>
            <a:prstDash val="solid"/>
          </a:ln>
        </p:spPr>
      </p:sp>
      <p:sp>
        <p:nvSpPr>
          <p:cNvPr id="4" name="Text 2"/>
          <p:cNvSpPr/>
          <p:nvPr/>
        </p:nvSpPr>
        <p:spPr>
          <a:xfrm>
            <a:off x="457200" y="914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El reto de los proyectos de software hoy</a:t>
            </a:r>
            <a:endParaRPr lang="en-US" sz="2200" dirty="0"/>
          </a:p>
        </p:txBody>
      </p:sp>
      <p:sp>
        <p:nvSpPr>
          <p:cNvPr id="5" name="Text 3"/>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6" name="Shape 4"/>
          <p:cNvSpPr/>
          <p:nvPr/>
        </p:nvSpPr>
        <p:spPr>
          <a:xfrm>
            <a:off x="365760" y="685800"/>
            <a:ext cx="1920240" cy="41605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685800"/>
            <a:ext cx="1920240" cy="256032"/>
          </a:xfrm>
          <a:prstGeom prst="rect">
            <a:avLst/>
          </a:prstGeom>
          <a:solidFill>
            <a:srgbClr val="1B3A6B"/>
          </a:solidFill>
          <a:ln w="12700">
            <a:solidFill>
              <a:srgbClr val="1B3A6B"/>
            </a:solidFill>
            <a:prstDash val="solid"/>
          </a:ln>
        </p:spPr>
      </p:sp>
      <p:sp>
        <p:nvSpPr>
          <p:cNvPr id="8" name="Text 6"/>
          <p:cNvSpPr/>
          <p:nvPr/>
        </p:nvSpPr>
        <p:spPr>
          <a:xfrm>
            <a:off x="365760" y="960120"/>
            <a:ext cx="192024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9" name="Text 7"/>
          <p:cNvSpPr/>
          <p:nvPr/>
        </p:nvSpPr>
        <p:spPr>
          <a:xfrm>
            <a:off x="457200" y="1719072"/>
            <a:ext cx="1737360" cy="365760"/>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Entregas lentas</a:t>
            </a:r>
            <a:endParaRPr lang="en-US" sz="1100" dirty="0"/>
          </a:p>
        </p:txBody>
      </p:sp>
      <p:sp>
        <p:nvSpPr>
          <p:cNvPr id="10" name="Text 8"/>
          <p:cNvSpPr/>
          <p:nvPr/>
        </p:nvSpPr>
        <p:spPr>
          <a:xfrm>
            <a:off x="457200" y="2148840"/>
            <a:ext cx="1737360" cy="2468880"/>
          </a:xfrm>
          <a:prstGeom prst="rect">
            <a:avLst/>
          </a:prstGeom>
          <a:noFill/>
          <a:ln/>
        </p:spPr>
        <p:txBody>
          <a:bodyPr wrap="square" rtlCol="0" anchor="ctr"/>
          <a:lstStyle/>
          <a:p>
            <a:pPr algn="l" indent="0" marL="0">
              <a:buNone/>
            </a:pPr>
            <a:r>
              <a:rPr lang="en-US" sz="950" dirty="0">
                <a:solidFill>
                  <a:srgbClr val="64748B"/>
                </a:solidFill>
                <a:latin typeface="Arial" pitchFamily="34" charset="0"/>
                <a:ea typeface="Arial" pitchFamily="34" charset="-122"/>
                <a:cs typeface="Arial" pitchFamily="34" charset="-120"/>
              </a:rPr>
              <a:t>Los proyectos tradicionales tardan semanas en arrancar. Reuniones, documentos y burocracia consumen tiempo valioso.</a:t>
            </a:r>
            <a:endParaRPr lang="en-US" sz="950" dirty="0"/>
          </a:p>
        </p:txBody>
      </p:sp>
      <p:sp>
        <p:nvSpPr>
          <p:cNvPr id="11" name="Shape 9"/>
          <p:cNvSpPr/>
          <p:nvPr/>
        </p:nvSpPr>
        <p:spPr>
          <a:xfrm>
            <a:off x="2496312" y="685800"/>
            <a:ext cx="1920240" cy="41605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496312" y="685800"/>
            <a:ext cx="1920240" cy="256032"/>
          </a:xfrm>
          <a:prstGeom prst="rect">
            <a:avLst/>
          </a:prstGeom>
          <a:solidFill>
            <a:srgbClr val="2F6B61"/>
          </a:solidFill>
          <a:ln w="12700">
            <a:solidFill>
              <a:srgbClr val="2F6B61"/>
            </a:solidFill>
            <a:prstDash val="solid"/>
          </a:ln>
        </p:spPr>
      </p:sp>
      <p:sp>
        <p:nvSpPr>
          <p:cNvPr id="13" name="Text 11"/>
          <p:cNvSpPr/>
          <p:nvPr/>
        </p:nvSpPr>
        <p:spPr>
          <a:xfrm>
            <a:off x="2496312" y="960120"/>
            <a:ext cx="192024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4" name="Text 12"/>
          <p:cNvSpPr/>
          <p:nvPr/>
        </p:nvSpPr>
        <p:spPr>
          <a:xfrm>
            <a:off x="2587752" y="1719072"/>
            <a:ext cx="1737360" cy="365760"/>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Documentación costosa</a:t>
            </a:r>
            <a:endParaRPr lang="en-US" sz="1100" dirty="0"/>
          </a:p>
        </p:txBody>
      </p:sp>
      <p:sp>
        <p:nvSpPr>
          <p:cNvPr id="15" name="Text 13"/>
          <p:cNvSpPr/>
          <p:nvPr/>
        </p:nvSpPr>
        <p:spPr>
          <a:xfrm>
            <a:off x="2587752" y="2148840"/>
            <a:ext cx="1737360" cy="2468880"/>
          </a:xfrm>
          <a:prstGeom prst="rect">
            <a:avLst/>
          </a:prstGeom>
          <a:noFill/>
          <a:ln/>
        </p:spPr>
        <p:txBody>
          <a:bodyPr wrap="square" rtlCol="0" anchor="ctr"/>
          <a:lstStyle/>
          <a:p>
            <a:pPr algn="l" indent="0" marL="0">
              <a:buNone/>
            </a:pPr>
            <a:r>
              <a:rPr lang="en-US" sz="950" dirty="0">
                <a:solidFill>
                  <a:srgbClr val="64748B"/>
                </a:solidFill>
                <a:latin typeface="Arial" pitchFamily="34" charset="0"/>
                <a:ea typeface="Arial" pitchFamily="34" charset="-122"/>
                <a:cs typeface="Arial" pitchFamily="34" charset="-120"/>
              </a:rPr>
              <a:t>Generar planes, reportes CMMI y documentos técnicos requiere horas de trabajo manual en cada proyecto.</a:t>
            </a:r>
            <a:endParaRPr lang="en-US" sz="950" dirty="0"/>
          </a:p>
        </p:txBody>
      </p:sp>
      <p:sp>
        <p:nvSpPr>
          <p:cNvPr id="16" name="Shape 14"/>
          <p:cNvSpPr/>
          <p:nvPr/>
        </p:nvSpPr>
        <p:spPr>
          <a:xfrm>
            <a:off x="4626864" y="685800"/>
            <a:ext cx="1920240" cy="41605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626864" y="685800"/>
            <a:ext cx="1920240" cy="256032"/>
          </a:xfrm>
          <a:prstGeom prst="rect">
            <a:avLst/>
          </a:prstGeom>
          <a:solidFill>
            <a:srgbClr val="C84A14"/>
          </a:solidFill>
          <a:ln w="12700">
            <a:solidFill>
              <a:srgbClr val="C84A14"/>
            </a:solidFill>
            <a:prstDash val="solid"/>
          </a:ln>
        </p:spPr>
      </p:sp>
      <p:sp>
        <p:nvSpPr>
          <p:cNvPr id="18" name="Text 16"/>
          <p:cNvSpPr/>
          <p:nvPr/>
        </p:nvSpPr>
        <p:spPr>
          <a:xfrm>
            <a:off x="4626864" y="960120"/>
            <a:ext cx="192024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19" name="Text 17"/>
          <p:cNvSpPr/>
          <p:nvPr/>
        </p:nvSpPr>
        <p:spPr>
          <a:xfrm>
            <a:off x="4718304" y="1719072"/>
            <a:ext cx="1737360" cy="365760"/>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Dependencia del equipo</a:t>
            </a:r>
            <a:endParaRPr lang="en-US" sz="1100" dirty="0"/>
          </a:p>
        </p:txBody>
      </p:sp>
      <p:sp>
        <p:nvSpPr>
          <p:cNvPr id="20" name="Text 18"/>
          <p:cNvSpPr/>
          <p:nvPr/>
        </p:nvSpPr>
        <p:spPr>
          <a:xfrm>
            <a:off x="4718304" y="2148840"/>
            <a:ext cx="1737360" cy="2468880"/>
          </a:xfrm>
          <a:prstGeom prst="rect">
            <a:avLst/>
          </a:prstGeom>
          <a:noFill/>
          <a:ln/>
        </p:spPr>
        <p:txBody>
          <a:bodyPr wrap="square" rtlCol="0" anchor="ctr"/>
          <a:lstStyle/>
          <a:p>
            <a:pPr algn="l" indent="0" marL="0">
              <a:buNone/>
            </a:pPr>
            <a:r>
              <a:rPr lang="en-US" sz="950" dirty="0">
                <a:solidFill>
                  <a:srgbClr val="64748B"/>
                </a:solidFill>
                <a:latin typeface="Arial" pitchFamily="34" charset="0"/>
                <a:ea typeface="Arial" pitchFamily="34" charset="-122"/>
                <a:cs typeface="Arial" pitchFamily="34" charset="-120"/>
              </a:rPr>
              <a:t>El conocimiento está en las personas. Si alguien se va, la calidad del proyecto se resiente.</a:t>
            </a:r>
            <a:endParaRPr lang="en-US" sz="950" dirty="0"/>
          </a:p>
        </p:txBody>
      </p:sp>
      <p:sp>
        <p:nvSpPr>
          <p:cNvPr id="21" name="Shape 19"/>
          <p:cNvSpPr/>
          <p:nvPr/>
        </p:nvSpPr>
        <p:spPr>
          <a:xfrm>
            <a:off x="6757416" y="685800"/>
            <a:ext cx="1920240" cy="41605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6757416" y="685800"/>
            <a:ext cx="1920240" cy="256032"/>
          </a:xfrm>
          <a:prstGeom prst="rect">
            <a:avLst/>
          </a:prstGeom>
          <a:solidFill>
            <a:srgbClr val="3D5A80"/>
          </a:solidFill>
          <a:ln w="12700">
            <a:solidFill>
              <a:srgbClr val="3D5A80"/>
            </a:solidFill>
            <a:prstDash val="solid"/>
          </a:ln>
        </p:spPr>
      </p:sp>
      <p:sp>
        <p:nvSpPr>
          <p:cNvPr id="23" name="Text 21"/>
          <p:cNvSpPr/>
          <p:nvPr/>
        </p:nvSpPr>
        <p:spPr>
          <a:xfrm>
            <a:off x="6757416" y="960120"/>
            <a:ext cx="1920240" cy="73152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4" name="Text 22"/>
          <p:cNvSpPr/>
          <p:nvPr/>
        </p:nvSpPr>
        <p:spPr>
          <a:xfrm>
            <a:off x="6848856" y="1719072"/>
            <a:ext cx="1737360" cy="365760"/>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Riesgo de calidad</a:t>
            </a:r>
            <a:endParaRPr lang="en-US" sz="1100" dirty="0"/>
          </a:p>
        </p:txBody>
      </p:sp>
      <p:sp>
        <p:nvSpPr>
          <p:cNvPr id="25" name="Text 23"/>
          <p:cNvSpPr/>
          <p:nvPr/>
        </p:nvSpPr>
        <p:spPr>
          <a:xfrm>
            <a:off x="6848856" y="2148840"/>
            <a:ext cx="1737360" cy="2468880"/>
          </a:xfrm>
          <a:prstGeom prst="rect">
            <a:avLst/>
          </a:prstGeom>
          <a:noFill/>
          <a:ln/>
        </p:spPr>
        <p:txBody>
          <a:bodyPr wrap="square" rtlCol="0" anchor="ctr"/>
          <a:lstStyle/>
          <a:p>
            <a:pPr algn="l" indent="0" marL="0">
              <a:buNone/>
            </a:pPr>
            <a:r>
              <a:rPr lang="en-US" sz="950" dirty="0">
                <a:solidFill>
                  <a:srgbClr val="64748B"/>
                </a:solidFill>
                <a:latin typeface="Arial" pitchFamily="34" charset="0"/>
                <a:ea typeface="Arial" pitchFamily="34" charset="-122"/>
                <a:cs typeface="Arial" pitchFamily="34" charset="-120"/>
              </a:rPr>
              <a:t>Sin estándares automatizados, la calidad varía proyecto a proyecto y cliente a cliente.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E5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4A14"/>
          </a:solidFill>
          <a:ln w="12700">
            <a:solidFill>
              <a:srgbClr val="C84A14"/>
            </a:solidFill>
            <a:prstDash val="solid"/>
          </a:ln>
        </p:spPr>
      </p:sp>
      <p:sp>
        <p:nvSpPr>
          <p:cNvPr id="3" name="Text 1"/>
          <p:cNvSpPr/>
          <p:nvPr/>
        </p:nvSpPr>
        <p:spPr>
          <a:xfrm>
            <a:off x="457200" y="73152"/>
            <a:ext cx="64008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¿Qué es XFORGE?</a:t>
            </a:r>
            <a:endParaRPr lang="en-US" sz="2200" dirty="0"/>
          </a:p>
        </p:txBody>
      </p:sp>
      <p:sp>
        <p:nvSpPr>
          <p:cNvPr id="4" name="Text 2"/>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5" name="Shape 3"/>
          <p:cNvSpPr/>
          <p:nvPr/>
        </p:nvSpPr>
        <p:spPr>
          <a:xfrm>
            <a:off x="365760" y="621792"/>
            <a:ext cx="64008" cy="2011680"/>
          </a:xfrm>
          <a:prstGeom prst="rect">
            <a:avLst/>
          </a:prstGeom>
          <a:solidFill>
            <a:srgbClr val="C84A14"/>
          </a:solidFill>
          <a:ln w="12700">
            <a:solidFill>
              <a:srgbClr val="C84A14"/>
            </a:solidFill>
            <a:prstDash val="solid"/>
          </a:ln>
        </p:spPr>
      </p:sp>
      <p:sp>
        <p:nvSpPr>
          <p:cNvPr id="6" name="Text 4"/>
          <p:cNvSpPr/>
          <p:nvPr/>
        </p:nvSpPr>
        <p:spPr>
          <a:xfrm>
            <a:off x="548640" y="594360"/>
            <a:ext cx="4114800" cy="640080"/>
          </a:xfrm>
          <a:prstGeom prst="rect">
            <a:avLst/>
          </a:prstGeom>
          <a:noFill/>
          <a:ln/>
        </p:spPr>
        <p:txBody>
          <a:bodyPr wrap="square" lIns="0" tIns="0" rIns="0" bIns="0" rtlCol="0" anchor="ctr"/>
          <a:lstStyle/>
          <a:p>
            <a:pPr indent="0" marL="0">
              <a:buNone/>
            </a:pPr>
            <a:r>
              <a:rPr lang="en-US" sz="1800" b="1" dirty="0">
                <a:solidFill>
                  <a:srgbClr val="C84A14"/>
                </a:solidFill>
                <a:latin typeface="Arial" pitchFamily="34" charset="0"/>
                <a:ea typeface="Arial" pitchFamily="34" charset="-122"/>
                <a:cs typeface="Arial" pitchFamily="34" charset="-120"/>
              </a:rPr>
              <a:t>Un equipo de trabajo inteligente, siempre disponible</a:t>
            </a:r>
            <a:endParaRPr lang="en-US" sz="1800" dirty="0"/>
          </a:p>
        </p:txBody>
      </p:sp>
      <p:sp>
        <p:nvSpPr>
          <p:cNvPr id="7" name="Text 5"/>
          <p:cNvSpPr/>
          <p:nvPr/>
        </p:nvSpPr>
        <p:spPr>
          <a:xfrm>
            <a:off x="548640" y="1280160"/>
            <a:ext cx="4114800" cy="1188720"/>
          </a:xfrm>
          <a:prstGeom prst="rect">
            <a:avLst/>
          </a:prstGeom>
          <a:noFill/>
          <a:ln/>
        </p:spPr>
        <p:txBody>
          <a:bodyPr wrap="square" lIns="0" tIns="0" rIns="0" bIns="0" rtlCol="0" anchor="ctr"/>
          <a:lstStyle/>
          <a:p>
            <a:pPr indent="0" marL="0">
              <a:buNone/>
            </a:pPr>
            <a:r>
              <a:rPr lang="en-US" sz="1100" dirty="0">
                <a:solidFill>
                  <a:srgbClr val="E8ECF0"/>
                </a:solidFill>
                <a:latin typeface="Arial" pitchFamily="34" charset="0"/>
                <a:ea typeface="Arial" pitchFamily="34" charset="-122"/>
                <a:cs typeface="Arial" pitchFamily="34" charset="-120"/>
              </a:rPr>
              <a:t>XFORGE es la Factoría de Software con Inteligencia Artificial de Experis. Funciona como un equipo de 20 agentes especializados que trabajan de forma autónoma para entregar proyectos de software de extremo a extremo: desde el análisis inicial hasta la documentación final lista para el cliente.</a:t>
            </a:r>
            <a:endParaRPr lang="en-US" sz="1100" dirty="0"/>
          </a:p>
        </p:txBody>
      </p:sp>
      <p:sp>
        <p:nvSpPr>
          <p:cNvPr id="8" name="Text 6"/>
          <p:cNvSpPr/>
          <p:nvPr/>
        </p:nvSpPr>
        <p:spPr>
          <a:xfrm>
            <a:off x="548640" y="2578608"/>
            <a:ext cx="4206240" cy="365760"/>
          </a:xfrm>
          <a:prstGeom prst="rect">
            <a:avLst/>
          </a:prstGeom>
          <a:noFill/>
          <a:ln/>
        </p:spPr>
        <p:txBody>
          <a:bodyPr wrap="square" rtlCol="0" anchor="ctr"/>
          <a:lstStyle/>
          <a:p>
            <a:pPr indent="0" marL="0">
              <a:buNone/>
            </a:pPr>
            <a:r>
              <a:rPr lang="en-US" sz="1100" dirty="0">
                <a:solidFill>
                  <a:srgbClr val="E8ECF0"/>
                </a:solidFill>
                <a:latin typeface="Arial" pitchFamily="34" charset="0"/>
                <a:ea typeface="Arial" pitchFamily="34" charset="-122"/>
                <a:cs typeface="Arial" pitchFamily="34" charset="-120"/>
              </a:rPr>
              <a:t>✅  Automatiza el 80% de las tareas repetitivas del proyecto</a:t>
            </a:r>
            <a:endParaRPr lang="en-US" sz="1100" dirty="0"/>
          </a:p>
        </p:txBody>
      </p:sp>
      <p:sp>
        <p:nvSpPr>
          <p:cNvPr id="9" name="Text 7"/>
          <p:cNvSpPr/>
          <p:nvPr/>
        </p:nvSpPr>
        <p:spPr>
          <a:xfrm>
            <a:off x="548640" y="3017520"/>
            <a:ext cx="4206240" cy="365760"/>
          </a:xfrm>
          <a:prstGeom prst="rect">
            <a:avLst/>
          </a:prstGeom>
          <a:noFill/>
          <a:ln/>
        </p:spPr>
        <p:txBody>
          <a:bodyPr wrap="square" rtlCol="0" anchor="ctr"/>
          <a:lstStyle/>
          <a:p>
            <a:pPr indent="0" marL="0">
              <a:buNone/>
            </a:pPr>
            <a:r>
              <a:rPr lang="en-US" sz="1100" dirty="0">
                <a:solidFill>
                  <a:srgbClr val="E8ECF0"/>
                </a:solidFill>
                <a:latin typeface="Arial" pitchFamily="34" charset="0"/>
                <a:ea typeface="Arial" pitchFamily="34" charset="-122"/>
                <a:cs typeface="Arial" pitchFamily="34" charset="-120"/>
              </a:rPr>
              <a:t>✅  CMMI Nivel 3 nativo, sin esfuerzo extra del equipo</a:t>
            </a:r>
            <a:endParaRPr lang="en-US" sz="1100" dirty="0"/>
          </a:p>
        </p:txBody>
      </p:sp>
      <p:sp>
        <p:nvSpPr>
          <p:cNvPr id="10" name="Text 8"/>
          <p:cNvSpPr/>
          <p:nvPr/>
        </p:nvSpPr>
        <p:spPr>
          <a:xfrm>
            <a:off x="548640" y="3456432"/>
            <a:ext cx="4206240" cy="365760"/>
          </a:xfrm>
          <a:prstGeom prst="rect">
            <a:avLst/>
          </a:prstGeom>
          <a:noFill/>
          <a:ln/>
        </p:spPr>
        <p:txBody>
          <a:bodyPr wrap="square" rtlCol="0" anchor="ctr"/>
          <a:lstStyle/>
          <a:p>
            <a:pPr indent="0" marL="0">
              <a:buNone/>
            </a:pPr>
            <a:r>
              <a:rPr lang="en-US" sz="1100" dirty="0">
                <a:solidFill>
                  <a:srgbClr val="E8ECF0"/>
                </a:solidFill>
                <a:latin typeface="Arial" pitchFamily="34" charset="0"/>
                <a:ea typeface="Arial" pitchFamily="34" charset="-122"/>
                <a:cs typeface="Arial" pitchFamily="34" charset="-120"/>
              </a:rPr>
              <a:t>✅  Genera toda la documentación técnica automáticamente</a:t>
            </a:r>
            <a:endParaRPr lang="en-US" sz="1100" dirty="0"/>
          </a:p>
        </p:txBody>
      </p:sp>
      <p:sp>
        <p:nvSpPr>
          <p:cNvPr id="11" name="Text 9"/>
          <p:cNvSpPr/>
          <p:nvPr/>
        </p:nvSpPr>
        <p:spPr>
          <a:xfrm>
            <a:off x="548640" y="3895344"/>
            <a:ext cx="4206240" cy="365760"/>
          </a:xfrm>
          <a:prstGeom prst="rect">
            <a:avLst/>
          </a:prstGeom>
          <a:noFill/>
          <a:ln/>
        </p:spPr>
        <p:txBody>
          <a:bodyPr wrap="square" rtlCol="0" anchor="ctr"/>
          <a:lstStyle/>
          <a:p>
            <a:pPr indent="0" marL="0">
              <a:buNone/>
            </a:pPr>
            <a:r>
              <a:rPr lang="en-US" sz="1100" dirty="0">
                <a:solidFill>
                  <a:srgbClr val="E8ECF0"/>
                </a:solidFill>
                <a:latin typeface="Arial" pitchFamily="34" charset="0"/>
                <a:ea typeface="Arial" pitchFamily="34" charset="-122"/>
                <a:cs typeface="Arial" pitchFamily="34" charset="-120"/>
              </a:rPr>
              <a:t>✅  Dominio bancario especializado (SEPA, PSD2, Basilea III)</a:t>
            </a:r>
            <a:endParaRPr lang="en-US" sz="1100" dirty="0"/>
          </a:p>
        </p:txBody>
      </p:sp>
      <p:sp>
        <p:nvSpPr>
          <p:cNvPr id="12" name="Text 10"/>
          <p:cNvSpPr/>
          <p:nvPr/>
        </p:nvSpPr>
        <p:spPr>
          <a:xfrm>
            <a:off x="548640" y="4334256"/>
            <a:ext cx="4206240" cy="365760"/>
          </a:xfrm>
          <a:prstGeom prst="rect">
            <a:avLst/>
          </a:prstGeom>
          <a:noFill/>
          <a:ln/>
        </p:spPr>
        <p:txBody>
          <a:bodyPr wrap="square" rtlCol="0" anchor="ctr"/>
          <a:lstStyle/>
          <a:p>
            <a:pPr indent="0" marL="0">
              <a:buNone/>
            </a:pPr>
            <a:r>
              <a:rPr lang="en-US" sz="1100" dirty="0">
                <a:solidFill>
                  <a:srgbClr val="E8ECF0"/>
                </a:solidFill>
                <a:latin typeface="Arial" pitchFamily="34" charset="0"/>
                <a:ea typeface="Arial" pitchFamily="34" charset="-122"/>
                <a:cs typeface="Arial" pitchFamily="34" charset="-120"/>
              </a:rPr>
              <a:t>✅  Pipeline de 13 pasos con gates de aprobación humana</a:t>
            </a:r>
            <a:endParaRPr lang="en-US" sz="1100" dirty="0"/>
          </a:p>
        </p:txBody>
      </p:sp>
      <p:sp>
        <p:nvSpPr>
          <p:cNvPr id="13" name="Shape 11"/>
          <p:cNvSpPr/>
          <p:nvPr/>
        </p:nvSpPr>
        <p:spPr>
          <a:xfrm>
            <a:off x="5074920" y="621792"/>
            <a:ext cx="1737360" cy="1920240"/>
          </a:xfrm>
          <a:prstGeom prst="rect">
            <a:avLst/>
          </a:prstGeom>
          <a:solidFill>
            <a:srgbClr val="1C3452"/>
          </a:solidFill>
          <a:ln w="25400">
            <a:solidFill>
              <a:srgbClr val="C84A14"/>
            </a:solidFill>
            <a:prstDash val="solid"/>
          </a:ln>
        </p:spPr>
      </p:sp>
      <p:sp>
        <p:nvSpPr>
          <p:cNvPr id="14" name="Text 12"/>
          <p:cNvSpPr/>
          <p:nvPr/>
        </p:nvSpPr>
        <p:spPr>
          <a:xfrm>
            <a:off x="5074920" y="850392"/>
            <a:ext cx="1737360" cy="731520"/>
          </a:xfrm>
          <a:prstGeom prst="rect">
            <a:avLst/>
          </a:prstGeom>
          <a:noFill/>
          <a:ln/>
        </p:spPr>
        <p:txBody>
          <a:bodyPr wrap="square" rtlCol="0" anchor="ctr"/>
          <a:lstStyle/>
          <a:p>
            <a:pPr algn="ctr" indent="0" marL="0">
              <a:buNone/>
            </a:pPr>
            <a:r>
              <a:rPr lang="en-US" sz="3000" b="1" dirty="0">
                <a:solidFill>
                  <a:srgbClr val="C84A14"/>
                </a:solidFill>
                <a:latin typeface="Arial Black" pitchFamily="34" charset="0"/>
                <a:ea typeface="Arial Black" pitchFamily="34" charset="-122"/>
                <a:cs typeface="Arial Black" pitchFamily="34" charset="-120"/>
              </a:rPr>
              <a:t>20</a:t>
            </a:r>
            <a:endParaRPr lang="en-US" sz="3000" dirty="0"/>
          </a:p>
        </p:txBody>
      </p:sp>
      <p:sp>
        <p:nvSpPr>
          <p:cNvPr id="15" name="Text 13"/>
          <p:cNvSpPr/>
          <p:nvPr/>
        </p:nvSpPr>
        <p:spPr>
          <a:xfrm>
            <a:off x="5074920" y="1627632"/>
            <a:ext cx="1737360" cy="685800"/>
          </a:xfrm>
          <a:prstGeom prst="rect">
            <a:avLst/>
          </a:prstGeom>
          <a:noFill/>
          <a:ln/>
        </p:spPr>
        <p:txBody>
          <a:bodyPr wrap="square" rtlCol="0" anchor="ctr"/>
          <a:lstStyle/>
          <a:p>
            <a:pPr algn="ctr" indent="0" marL="0">
              <a:buNone/>
            </a:pPr>
            <a:r>
              <a:rPr lang="en-US" sz="1000" dirty="0">
                <a:solidFill>
                  <a:srgbClr val="E8ECF0"/>
                </a:solidFill>
                <a:latin typeface="Arial" pitchFamily="34" charset="0"/>
                <a:ea typeface="Arial" pitchFamily="34" charset="-122"/>
                <a:cs typeface="Arial" pitchFamily="34" charset="-120"/>
              </a:rPr>
              <a:t>Agentes</a:t>
            </a:r>
            <a:endParaRPr lang="en-US" sz="1000" dirty="0"/>
          </a:p>
          <a:p>
            <a:pPr algn="ctr" indent="0" marL="0">
              <a:buNone/>
            </a:pPr>
            <a:r>
              <a:rPr lang="en-US" sz="1000" dirty="0">
                <a:solidFill>
                  <a:srgbClr val="E8ECF0"/>
                </a:solidFill>
                <a:latin typeface="Arial" pitchFamily="34" charset="0"/>
                <a:ea typeface="Arial" pitchFamily="34" charset="-122"/>
                <a:cs typeface="Arial" pitchFamily="34" charset="-120"/>
              </a:rPr>
              <a:t>especializados</a:t>
            </a:r>
            <a:endParaRPr lang="en-US" sz="1000" dirty="0"/>
          </a:p>
        </p:txBody>
      </p:sp>
      <p:sp>
        <p:nvSpPr>
          <p:cNvPr id="16" name="Shape 14"/>
          <p:cNvSpPr/>
          <p:nvPr/>
        </p:nvSpPr>
        <p:spPr>
          <a:xfrm>
            <a:off x="6995160" y="621792"/>
            <a:ext cx="1737360" cy="1920240"/>
          </a:xfrm>
          <a:prstGeom prst="rect">
            <a:avLst/>
          </a:prstGeom>
          <a:solidFill>
            <a:srgbClr val="1C3452"/>
          </a:solidFill>
          <a:ln w="25400">
            <a:solidFill>
              <a:srgbClr val="2F6B61"/>
            </a:solidFill>
            <a:prstDash val="solid"/>
          </a:ln>
        </p:spPr>
      </p:sp>
      <p:sp>
        <p:nvSpPr>
          <p:cNvPr id="17" name="Text 15"/>
          <p:cNvSpPr/>
          <p:nvPr/>
        </p:nvSpPr>
        <p:spPr>
          <a:xfrm>
            <a:off x="6995160" y="850392"/>
            <a:ext cx="1737360" cy="731520"/>
          </a:xfrm>
          <a:prstGeom prst="rect">
            <a:avLst/>
          </a:prstGeom>
          <a:noFill/>
          <a:ln/>
        </p:spPr>
        <p:txBody>
          <a:bodyPr wrap="square" rtlCol="0" anchor="ctr"/>
          <a:lstStyle/>
          <a:p>
            <a:pPr algn="ctr" indent="0" marL="0">
              <a:buNone/>
            </a:pPr>
            <a:r>
              <a:rPr lang="en-US" sz="3000" b="1" dirty="0">
                <a:solidFill>
                  <a:srgbClr val="2F6B61"/>
                </a:solidFill>
                <a:latin typeface="Arial Black" pitchFamily="34" charset="0"/>
                <a:ea typeface="Arial Black" pitchFamily="34" charset="-122"/>
                <a:cs typeface="Arial Black" pitchFamily="34" charset="-120"/>
              </a:rPr>
              <a:t>13</a:t>
            </a:r>
            <a:endParaRPr lang="en-US" sz="3000" dirty="0"/>
          </a:p>
        </p:txBody>
      </p:sp>
      <p:sp>
        <p:nvSpPr>
          <p:cNvPr id="18" name="Text 16"/>
          <p:cNvSpPr/>
          <p:nvPr/>
        </p:nvSpPr>
        <p:spPr>
          <a:xfrm>
            <a:off x="6995160" y="1627632"/>
            <a:ext cx="1737360" cy="685800"/>
          </a:xfrm>
          <a:prstGeom prst="rect">
            <a:avLst/>
          </a:prstGeom>
          <a:noFill/>
          <a:ln/>
        </p:spPr>
        <p:txBody>
          <a:bodyPr wrap="square" rtlCol="0" anchor="ctr"/>
          <a:lstStyle/>
          <a:p>
            <a:pPr algn="ctr" indent="0" marL="0">
              <a:buNone/>
            </a:pPr>
            <a:r>
              <a:rPr lang="en-US" sz="1000" dirty="0">
                <a:solidFill>
                  <a:srgbClr val="E8ECF0"/>
                </a:solidFill>
                <a:latin typeface="Arial" pitchFamily="34" charset="0"/>
                <a:ea typeface="Arial" pitchFamily="34" charset="-122"/>
                <a:cs typeface="Arial" pitchFamily="34" charset="-120"/>
              </a:rPr>
              <a:t>Pasos en</a:t>
            </a:r>
            <a:endParaRPr lang="en-US" sz="1000" dirty="0"/>
          </a:p>
          <a:p>
            <a:pPr algn="ctr" indent="0" marL="0">
              <a:buNone/>
            </a:pPr>
            <a:r>
              <a:rPr lang="en-US" sz="1000" dirty="0">
                <a:solidFill>
                  <a:srgbClr val="E8ECF0"/>
                </a:solidFill>
                <a:latin typeface="Arial" pitchFamily="34" charset="0"/>
                <a:ea typeface="Arial" pitchFamily="34" charset="-122"/>
                <a:cs typeface="Arial" pitchFamily="34" charset="-120"/>
              </a:rPr>
              <a:t>el pipeline</a:t>
            </a:r>
            <a:endParaRPr lang="en-US" sz="1000" dirty="0"/>
          </a:p>
        </p:txBody>
      </p:sp>
      <p:sp>
        <p:nvSpPr>
          <p:cNvPr id="19" name="Shape 17"/>
          <p:cNvSpPr/>
          <p:nvPr/>
        </p:nvSpPr>
        <p:spPr>
          <a:xfrm>
            <a:off x="5074920" y="2770632"/>
            <a:ext cx="1737360" cy="1920240"/>
          </a:xfrm>
          <a:prstGeom prst="rect">
            <a:avLst/>
          </a:prstGeom>
          <a:solidFill>
            <a:srgbClr val="1C3452"/>
          </a:solidFill>
          <a:ln w="25400">
            <a:solidFill>
              <a:srgbClr val="3D5A80"/>
            </a:solidFill>
            <a:prstDash val="solid"/>
          </a:ln>
        </p:spPr>
      </p:sp>
      <p:sp>
        <p:nvSpPr>
          <p:cNvPr id="20" name="Text 18"/>
          <p:cNvSpPr/>
          <p:nvPr/>
        </p:nvSpPr>
        <p:spPr>
          <a:xfrm>
            <a:off x="5074920" y="2999232"/>
            <a:ext cx="1737360" cy="731520"/>
          </a:xfrm>
          <a:prstGeom prst="rect">
            <a:avLst/>
          </a:prstGeom>
          <a:noFill/>
          <a:ln/>
        </p:spPr>
        <p:txBody>
          <a:bodyPr wrap="square" rtlCol="0" anchor="ctr"/>
          <a:lstStyle/>
          <a:p>
            <a:pPr algn="ctr" indent="0" marL="0">
              <a:buNone/>
            </a:pPr>
            <a:r>
              <a:rPr lang="en-US" sz="3000" b="1" dirty="0">
                <a:solidFill>
                  <a:srgbClr val="3D5A80"/>
                </a:solidFill>
                <a:latin typeface="Arial Black" pitchFamily="34" charset="0"/>
                <a:ea typeface="Arial Black" pitchFamily="34" charset="-122"/>
                <a:cs typeface="Arial Black" pitchFamily="34" charset="-120"/>
              </a:rPr>
              <a:t>CMMI L3</a:t>
            </a:r>
            <a:endParaRPr lang="en-US" sz="3000" dirty="0"/>
          </a:p>
        </p:txBody>
      </p:sp>
      <p:sp>
        <p:nvSpPr>
          <p:cNvPr id="21" name="Text 19"/>
          <p:cNvSpPr/>
          <p:nvPr/>
        </p:nvSpPr>
        <p:spPr>
          <a:xfrm>
            <a:off x="5074920" y="3776472"/>
            <a:ext cx="1737360" cy="685800"/>
          </a:xfrm>
          <a:prstGeom prst="rect">
            <a:avLst/>
          </a:prstGeom>
          <a:noFill/>
          <a:ln/>
        </p:spPr>
        <p:txBody>
          <a:bodyPr wrap="square" rtlCol="0" anchor="ctr"/>
          <a:lstStyle/>
          <a:p>
            <a:pPr algn="ctr" indent="0" marL="0">
              <a:buNone/>
            </a:pPr>
            <a:r>
              <a:rPr lang="en-US" sz="1000" dirty="0">
                <a:solidFill>
                  <a:srgbClr val="E8ECF0"/>
                </a:solidFill>
                <a:latin typeface="Arial" pitchFamily="34" charset="0"/>
                <a:ea typeface="Arial" pitchFamily="34" charset="-122"/>
                <a:cs typeface="Arial" pitchFamily="34" charset="-120"/>
              </a:rPr>
              <a:t>Gobierno</a:t>
            </a:r>
            <a:endParaRPr lang="en-US" sz="1000" dirty="0"/>
          </a:p>
          <a:p>
            <a:pPr algn="ctr" indent="0" marL="0">
              <a:buNone/>
            </a:pPr>
            <a:r>
              <a:rPr lang="en-US" sz="1000" dirty="0">
                <a:solidFill>
                  <a:srgbClr val="E8ECF0"/>
                </a:solidFill>
                <a:latin typeface="Arial" pitchFamily="34" charset="0"/>
                <a:ea typeface="Arial" pitchFamily="34" charset="-122"/>
                <a:cs typeface="Arial" pitchFamily="34" charset="-120"/>
              </a:rPr>
              <a:t>nativo</a:t>
            </a:r>
            <a:endParaRPr lang="en-US" sz="1000" dirty="0"/>
          </a:p>
        </p:txBody>
      </p:sp>
      <p:sp>
        <p:nvSpPr>
          <p:cNvPr id="22" name="Shape 20"/>
          <p:cNvSpPr/>
          <p:nvPr/>
        </p:nvSpPr>
        <p:spPr>
          <a:xfrm>
            <a:off x="6995160" y="2770632"/>
            <a:ext cx="1737360" cy="1920240"/>
          </a:xfrm>
          <a:prstGeom prst="rect">
            <a:avLst/>
          </a:prstGeom>
          <a:solidFill>
            <a:srgbClr val="1C3452"/>
          </a:solidFill>
          <a:ln w="25400">
            <a:solidFill>
              <a:srgbClr val="1B3A6B"/>
            </a:solidFill>
            <a:prstDash val="solid"/>
          </a:ln>
        </p:spPr>
      </p:sp>
      <p:sp>
        <p:nvSpPr>
          <p:cNvPr id="23" name="Text 21"/>
          <p:cNvSpPr/>
          <p:nvPr/>
        </p:nvSpPr>
        <p:spPr>
          <a:xfrm>
            <a:off x="6995160" y="2999232"/>
            <a:ext cx="1737360" cy="731520"/>
          </a:xfrm>
          <a:prstGeom prst="rect">
            <a:avLst/>
          </a:prstGeom>
          <a:noFill/>
          <a:ln/>
        </p:spPr>
        <p:txBody>
          <a:bodyPr wrap="square" rtlCol="0" anchor="ctr"/>
          <a:lstStyle/>
          <a:p>
            <a:pPr algn="ctr" indent="0" marL="0">
              <a:buNone/>
            </a:pPr>
            <a:r>
              <a:rPr lang="en-US" sz="3000" b="1" dirty="0">
                <a:solidFill>
                  <a:srgbClr val="1B3A6B"/>
                </a:solidFill>
                <a:latin typeface="Arial Black" pitchFamily="34" charset="0"/>
                <a:ea typeface="Arial Black" pitchFamily="34" charset="-122"/>
                <a:cs typeface="Arial Black" pitchFamily="34" charset="-120"/>
              </a:rPr>
              <a:t>100%</a:t>
            </a:r>
            <a:endParaRPr lang="en-US" sz="3000" dirty="0"/>
          </a:p>
        </p:txBody>
      </p:sp>
      <p:sp>
        <p:nvSpPr>
          <p:cNvPr id="24" name="Text 22"/>
          <p:cNvSpPr/>
          <p:nvPr/>
        </p:nvSpPr>
        <p:spPr>
          <a:xfrm>
            <a:off x="6995160" y="3776472"/>
            <a:ext cx="1737360" cy="685800"/>
          </a:xfrm>
          <a:prstGeom prst="rect">
            <a:avLst/>
          </a:prstGeom>
          <a:noFill/>
          <a:ln/>
        </p:spPr>
        <p:txBody>
          <a:bodyPr wrap="square" rtlCol="0" anchor="ctr"/>
          <a:lstStyle/>
          <a:p>
            <a:pPr algn="ctr" indent="0" marL="0">
              <a:buNone/>
            </a:pPr>
            <a:r>
              <a:rPr lang="en-US" sz="1000" dirty="0">
                <a:solidFill>
                  <a:srgbClr val="E8ECF0"/>
                </a:solidFill>
                <a:latin typeface="Arial" pitchFamily="34" charset="0"/>
                <a:ea typeface="Arial" pitchFamily="34" charset="-122"/>
                <a:cs typeface="Arial" pitchFamily="34" charset="-120"/>
              </a:rPr>
              <a:t>Docs</a:t>
            </a:r>
            <a:endParaRPr lang="en-US" sz="1000" dirty="0"/>
          </a:p>
          <a:p>
            <a:pPr algn="ctr" indent="0" marL="0">
              <a:buNone/>
            </a:pPr>
            <a:r>
              <a:rPr lang="en-US" sz="1000" dirty="0">
                <a:solidFill>
                  <a:srgbClr val="E8ECF0"/>
                </a:solidFill>
                <a:latin typeface="Arial" pitchFamily="34" charset="0"/>
                <a:ea typeface="Arial" pitchFamily="34" charset="-122"/>
                <a:cs typeface="Arial" pitchFamily="34" charset="-120"/>
              </a:rPr>
              <a:t>automáticas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62E54"/>
          </a:solidFill>
          <a:ln w="12700">
            <a:solidFill>
              <a:srgbClr val="162E54"/>
            </a:solidFill>
            <a:prstDash val="solid"/>
          </a:ln>
        </p:spPr>
      </p:sp>
      <p:sp>
        <p:nvSpPr>
          <p:cNvPr id="3" name="Shape 1"/>
          <p:cNvSpPr/>
          <p:nvPr/>
        </p:nvSpPr>
        <p:spPr>
          <a:xfrm>
            <a:off x="0" y="0"/>
            <a:ext cx="9144000" cy="64008"/>
          </a:xfrm>
          <a:prstGeom prst="rect">
            <a:avLst/>
          </a:prstGeom>
          <a:solidFill>
            <a:srgbClr val="C84A14"/>
          </a:solidFill>
          <a:ln w="12700">
            <a:solidFill>
              <a:srgbClr val="C84A14"/>
            </a:solidFill>
            <a:prstDash val="solid"/>
          </a:ln>
        </p:spPr>
      </p:sp>
      <p:sp>
        <p:nvSpPr>
          <p:cNvPr id="4" name="Text 2"/>
          <p:cNvSpPr/>
          <p:nvPr/>
        </p:nvSpPr>
        <p:spPr>
          <a:xfrm>
            <a:off x="457200" y="914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Cómo funciona: el pipeline de entrega de XFORGE</a:t>
            </a:r>
            <a:endParaRPr lang="en-US" sz="2200" dirty="0"/>
          </a:p>
        </p:txBody>
      </p:sp>
      <p:sp>
        <p:nvSpPr>
          <p:cNvPr id="5" name="Text 3"/>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6" name="Shape 4"/>
          <p:cNvSpPr/>
          <p:nvPr/>
        </p:nvSpPr>
        <p:spPr>
          <a:xfrm>
            <a:off x="256032" y="676656"/>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56032" y="676656"/>
            <a:ext cx="1161288" cy="201168"/>
          </a:xfrm>
          <a:prstGeom prst="rect">
            <a:avLst/>
          </a:prstGeom>
          <a:solidFill>
            <a:srgbClr val="1B3A6B"/>
          </a:solidFill>
          <a:ln w="12700">
            <a:solidFill>
              <a:srgbClr val="1B3A6B"/>
            </a:solidFill>
            <a:prstDash val="solid"/>
          </a:ln>
        </p:spPr>
      </p:sp>
      <p:sp>
        <p:nvSpPr>
          <p:cNvPr id="8" name="Text 6"/>
          <p:cNvSpPr/>
          <p:nvPr/>
        </p:nvSpPr>
        <p:spPr>
          <a:xfrm>
            <a:off x="256032" y="685800"/>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9" name="Text 7"/>
          <p:cNvSpPr/>
          <p:nvPr/>
        </p:nvSpPr>
        <p:spPr>
          <a:xfrm>
            <a:off x="292608" y="914400"/>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Scrum Master</a:t>
            </a:r>
            <a:endParaRPr lang="en-US" sz="900" dirty="0"/>
          </a:p>
        </p:txBody>
      </p:sp>
      <p:sp>
        <p:nvSpPr>
          <p:cNvPr id="10" name="Text 8"/>
          <p:cNvSpPr/>
          <p:nvPr/>
        </p:nvSpPr>
        <p:spPr>
          <a:xfrm>
            <a:off x="292608" y="1435608"/>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Planning</a:t>
            </a:r>
            <a:endParaRPr lang="en-US" sz="800" dirty="0"/>
          </a:p>
        </p:txBody>
      </p:sp>
      <p:sp>
        <p:nvSpPr>
          <p:cNvPr id="11" name="Shape 9"/>
          <p:cNvSpPr/>
          <p:nvPr/>
        </p:nvSpPr>
        <p:spPr>
          <a:xfrm>
            <a:off x="530352" y="1773936"/>
            <a:ext cx="594360" cy="182880"/>
          </a:xfrm>
          <a:prstGeom prst="rect">
            <a:avLst/>
          </a:prstGeom>
          <a:solidFill>
            <a:srgbClr val="C84A14"/>
          </a:solidFill>
          <a:ln w="12700">
            <a:solidFill>
              <a:srgbClr val="C84A14"/>
            </a:solidFill>
            <a:prstDash val="solid"/>
          </a:ln>
        </p:spPr>
      </p:sp>
      <p:sp>
        <p:nvSpPr>
          <p:cNvPr id="12" name="Text 10"/>
          <p:cNvSpPr/>
          <p:nvPr/>
        </p:nvSpPr>
        <p:spPr>
          <a:xfrm>
            <a:off x="530352" y="1773936"/>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13" name="Shape 11"/>
          <p:cNvSpPr/>
          <p:nvPr/>
        </p:nvSpPr>
        <p:spPr>
          <a:xfrm>
            <a:off x="1417320" y="1385316"/>
            <a:ext cx="45720" cy="0"/>
          </a:xfrm>
          <a:prstGeom prst="line">
            <a:avLst/>
          </a:prstGeom>
          <a:noFill/>
          <a:ln w="19050">
            <a:solidFill>
              <a:srgbClr val="C84A14"/>
            </a:solidFill>
            <a:prstDash val="solid"/>
          </a:ln>
        </p:spPr>
      </p:sp>
      <p:sp>
        <p:nvSpPr>
          <p:cNvPr id="14" name="Shape 12"/>
          <p:cNvSpPr/>
          <p:nvPr/>
        </p:nvSpPr>
        <p:spPr>
          <a:xfrm>
            <a:off x="1463040" y="676656"/>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1463040" y="676656"/>
            <a:ext cx="1161288" cy="201168"/>
          </a:xfrm>
          <a:prstGeom prst="rect">
            <a:avLst/>
          </a:prstGeom>
          <a:solidFill>
            <a:srgbClr val="1B3A6B"/>
          </a:solidFill>
          <a:ln w="12700">
            <a:solidFill>
              <a:srgbClr val="1B3A6B"/>
            </a:solidFill>
            <a:prstDash val="solid"/>
          </a:ln>
        </p:spPr>
      </p:sp>
      <p:sp>
        <p:nvSpPr>
          <p:cNvPr id="16" name="Text 14"/>
          <p:cNvSpPr/>
          <p:nvPr/>
        </p:nvSpPr>
        <p:spPr>
          <a:xfrm>
            <a:off x="1463040" y="685800"/>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7" name="Text 15"/>
          <p:cNvSpPr/>
          <p:nvPr/>
        </p:nvSpPr>
        <p:spPr>
          <a:xfrm>
            <a:off x="1499616" y="914400"/>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Requirements</a:t>
            </a:r>
            <a:endParaRPr lang="en-US" sz="900" dirty="0"/>
          </a:p>
        </p:txBody>
      </p:sp>
      <p:sp>
        <p:nvSpPr>
          <p:cNvPr id="18" name="Text 16"/>
          <p:cNvSpPr/>
          <p:nvPr/>
        </p:nvSpPr>
        <p:spPr>
          <a:xfrm>
            <a:off x="1499616" y="1435608"/>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SRS + US</a:t>
            </a:r>
            <a:endParaRPr lang="en-US" sz="800" dirty="0"/>
          </a:p>
        </p:txBody>
      </p:sp>
      <p:sp>
        <p:nvSpPr>
          <p:cNvPr id="19" name="Shape 17"/>
          <p:cNvSpPr/>
          <p:nvPr/>
        </p:nvSpPr>
        <p:spPr>
          <a:xfrm>
            <a:off x="1737360" y="1773936"/>
            <a:ext cx="594360" cy="182880"/>
          </a:xfrm>
          <a:prstGeom prst="rect">
            <a:avLst/>
          </a:prstGeom>
          <a:solidFill>
            <a:srgbClr val="C84A14"/>
          </a:solidFill>
          <a:ln w="12700">
            <a:solidFill>
              <a:srgbClr val="C84A14"/>
            </a:solidFill>
            <a:prstDash val="solid"/>
          </a:ln>
        </p:spPr>
      </p:sp>
      <p:sp>
        <p:nvSpPr>
          <p:cNvPr id="20" name="Text 18"/>
          <p:cNvSpPr/>
          <p:nvPr/>
        </p:nvSpPr>
        <p:spPr>
          <a:xfrm>
            <a:off x="1737360" y="1773936"/>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21" name="Shape 19"/>
          <p:cNvSpPr/>
          <p:nvPr/>
        </p:nvSpPr>
        <p:spPr>
          <a:xfrm>
            <a:off x="2624328" y="1385316"/>
            <a:ext cx="45720" cy="0"/>
          </a:xfrm>
          <a:prstGeom prst="line">
            <a:avLst/>
          </a:prstGeom>
          <a:noFill/>
          <a:ln w="19050">
            <a:solidFill>
              <a:srgbClr val="C84A14"/>
            </a:solidFill>
            <a:prstDash val="solid"/>
          </a:ln>
        </p:spPr>
      </p:sp>
      <p:sp>
        <p:nvSpPr>
          <p:cNvPr id="22" name="Shape 20"/>
          <p:cNvSpPr/>
          <p:nvPr/>
        </p:nvSpPr>
        <p:spPr>
          <a:xfrm>
            <a:off x="2670048" y="676656"/>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2670048" y="676656"/>
            <a:ext cx="1161288" cy="201168"/>
          </a:xfrm>
          <a:prstGeom prst="rect">
            <a:avLst/>
          </a:prstGeom>
          <a:solidFill>
            <a:srgbClr val="2F6B61"/>
          </a:solidFill>
          <a:ln w="12700">
            <a:solidFill>
              <a:srgbClr val="2F6B61"/>
            </a:solidFill>
            <a:prstDash val="solid"/>
          </a:ln>
        </p:spPr>
      </p:sp>
      <p:sp>
        <p:nvSpPr>
          <p:cNvPr id="24" name="Text 22"/>
          <p:cNvSpPr/>
          <p:nvPr/>
        </p:nvSpPr>
        <p:spPr>
          <a:xfrm>
            <a:off x="2670048" y="685800"/>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2b</a:t>
            </a:r>
            <a:endParaRPr lang="en-US" sz="900" dirty="0"/>
          </a:p>
        </p:txBody>
      </p:sp>
      <p:sp>
        <p:nvSpPr>
          <p:cNvPr id="25" name="Text 23"/>
          <p:cNvSpPr/>
          <p:nvPr/>
        </p:nvSpPr>
        <p:spPr>
          <a:xfrm>
            <a:off x="2706624" y="914400"/>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FA Agent</a:t>
            </a:r>
            <a:endParaRPr lang="en-US" sz="900" dirty="0"/>
          </a:p>
        </p:txBody>
      </p:sp>
      <p:sp>
        <p:nvSpPr>
          <p:cNvPr id="26" name="Text 24"/>
          <p:cNvSpPr/>
          <p:nvPr/>
        </p:nvSpPr>
        <p:spPr>
          <a:xfrm>
            <a:off x="2706624" y="1435608"/>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Análisis Func.</a:t>
            </a:r>
            <a:endParaRPr lang="en-US" sz="800" dirty="0"/>
          </a:p>
        </p:txBody>
      </p:sp>
      <p:sp>
        <p:nvSpPr>
          <p:cNvPr id="27" name="Shape 25"/>
          <p:cNvSpPr/>
          <p:nvPr/>
        </p:nvSpPr>
        <p:spPr>
          <a:xfrm>
            <a:off x="3831336" y="1385316"/>
            <a:ext cx="45720" cy="0"/>
          </a:xfrm>
          <a:prstGeom prst="line">
            <a:avLst/>
          </a:prstGeom>
          <a:noFill/>
          <a:ln w="19050">
            <a:solidFill>
              <a:srgbClr val="C84A14"/>
            </a:solidFill>
            <a:prstDash val="solid"/>
          </a:ln>
        </p:spPr>
      </p:sp>
      <p:sp>
        <p:nvSpPr>
          <p:cNvPr id="28" name="Shape 26"/>
          <p:cNvSpPr/>
          <p:nvPr/>
        </p:nvSpPr>
        <p:spPr>
          <a:xfrm>
            <a:off x="3877056" y="676656"/>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3877056" y="676656"/>
            <a:ext cx="1161288" cy="201168"/>
          </a:xfrm>
          <a:prstGeom prst="rect">
            <a:avLst/>
          </a:prstGeom>
          <a:solidFill>
            <a:srgbClr val="3D5A80"/>
          </a:solidFill>
          <a:ln w="12700">
            <a:solidFill>
              <a:srgbClr val="3D5A80"/>
            </a:solidFill>
            <a:prstDash val="solid"/>
          </a:ln>
        </p:spPr>
      </p:sp>
      <p:sp>
        <p:nvSpPr>
          <p:cNvPr id="30" name="Text 28"/>
          <p:cNvSpPr/>
          <p:nvPr/>
        </p:nvSpPr>
        <p:spPr>
          <a:xfrm>
            <a:off x="3877056" y="685800"/>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31" name="Text 29"/>
          <p:cNvSpPr/>
          <p:nvPr/>
        </p:nvSpPr>
        <p:spPr>
          <a:xfrm>
            <a:off x="3913632" y="914400"/>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Architect</a:t>
            </a:r>
            <a:endParaRPr lang="en-US" sz="900" dirty="0"/>
          </a:p>
        </p:txBody>
      </p:sp>
      <p:sp>
        <p:nvSpPr>
          <p:cNvPr id="32" name="Text 30"/>
          <p:cNvSpPr/>
          <p:nvPr/>
        </p:nvSpPr>
        <p:spPr>
          <a:xfrm>
            <a:off x="3913632" y="1435608"/>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HLD + LLD</a:t>
            </a:r>
            <a:endParaRPr lang="en-US" sz="800" dirty="0"/>
          </a:p>
        </p:txBody>
      </p:sp>
      <p:sp>
        <p:nvSpPr>
          <p:cNvPr id="33" name="Shape 31"/>
          <p:cNvSpPr/>
          <p:nvPr/>
        </p:nvSpPr>
        <p:spPr>
          <a:xfrm>
            <a:off x="4151376" y="1773936"/>
            <a:ext cx="594360" cy="182880"/>
          </a:xfrm>
          <a:prstGeom prst="rect">
            <a:avLst/>
          </a:prstGeom>
          <a:solidFill>
            <a:srgbClr val="C84A14"/>
          </a:solidFill>
          <a:ln w="12700">
            <a:solidFill>
              <a:srgbClr val="C84A14"/>
            </a:solidFill>
            <a:prstDash val="solid"/>
          </a:ln>
        </p:spPr>
      </p:sp>
      <p:sp>
        <p:nvSpPr>
          <p:cNvPr id="34" name="Text 32"/>
          <p:cNvSpPr/>
          <p:nvPr/>
        </p:nvSpPr>
        <p:spPr>
          <a:xfrm>
            <a:off x="4151376" y="1773936"/>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35" name="Shape 33"/>
          <p:cNvSpPr/>
          <p:nvPr/>
        </p:nvSpPr>
        <p:spPr>
          <a:xfrm>
            <a:off x="5038344" y="1385316"/>
            <a:ext cx="45720" cy="0"/>
          </a:xfrm>
          <a:prstGeom prst="line">
            <a:avLst/>
          </a:prstGeom>
          <a:noFill/>
          <a:ln w="19050">
            <a:solidFill>
              <a:srgbClr val="C84A14"/>
            </a:solidFill>
            <a:prstDash val="solid"/>
          </a:ln>
        </p:spPr>
      </p:sp>
      <p:sp>
        <p:nvSpPr>
          <p:cNvPr id="36" name="Shape 34"/>
          <p:cNvSpPr/>
          <p:nvPr/>
        </p:nvSpPr>
        <p:spPr>
          <a:xfrm>
            <a:off x="5084064" y="676656"/>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37" name="Shape 35"/>
          <p:cNvSpPr/>
          <p:nvPr/>
        </p:nvSpPr>
        <p:spPr>
          <a:xfrm>
            <a:off x="5084064" y="676656"/>
            <a:ext cx="1161288" cy="201168"/>
          </a:xfrm>
          <a:prstGeom prst="rect">
            <a:avLst/>
          </a:prstGeom>
          <a:solidFill>
            <a:srgbClr val="2F6B61"/>
          </a:solidFill>
          <a:ln w="12700">
            <a:solidFill>
              <a:srgbClr val="2F6B61"/>
            </a:solidFill>
            <a:prstDash val="solid"/>
          </a:ln>
        </p:spPr>
      </p:sp>
      <p:sp>
        <p:nvSpPr>
          <p:cNvPr id="38" name="Text 36"/>
          <p:cNvSpPr/>
          <p:nvPr/>
        </p:nvSpPr>
        <p:spPr>
          <a:xfrm>
            <a:off x="5084064" y="685800"/>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3b</a:t>
            </a:r>
            <a:endParaRPr lang="en-US" sz="900" dirty="0"/>
          </a:p>
        </p:txBody>
      </p:sp>
      <p:sp>
        <p:nvSpPr>
          <p:cNvPr id="39" name="Text 37"/>
          <p:cNvSpPr/>
          <p:nvPr/>
        </p:nvSpPr>
        <p:spPr>
          <a:xfrm>
            <a:off x="5120640" y="914400"/>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Doc Agent</a:t>
            </a:r>
            <a:endParaRPr lang="en-US" sz="900" dirty="0"/>
          </a:p>
        </p:txBody>
      </p:sp>
      <p:sp>
        <p:nvSpPr>
          <p:cNvPr id="40" name="Text 38"/>
          <p:cNvSpPr/>
          <p:nvPr/>
        </p:nvSpPr>
        <p:spPr>
          <a:xfrm>
            <a:off x="5120640" y="1435608"/>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Diagramas</a:t>
            </a:r>
            <a:endParaRPr lang="en-US" sz="800" dirty="0"/>
          </a:p>
        </p:txBody>
      </p:sp>
      <p:sp>
        <p:nvSpPr>
          <p:cNvPr id="41" name="Shape 39"/>
          <p:cNvSpPr/>
          <p:nvPr/>
        </p:nvSpPr>
        <p:spPr>
          <a:xfrm>
            <a:off x="6245352" y="1385316"/>
            <a:ext cx="45720" cy="0"/>
          </a:xfrm>
          <a:prstGeom prst="line">
            <a:avLst/>
          </a:prstGeom>
          <a:noFill/>
          <a:ln w="19050">
            <a:solidFill>
              <a:srgbClr val="C84A14"/>
            </a:solidFill>
            <a:prstDash val="solid"/>
          </a:ln>
        </p:spPr>
      </p:sp>
      <p:sp>
        <p:nvSpPr>
          <p:cNvPr id="42" name="Shape 40"/>
          <p:cNvSpPr/>
          <p:nvPr/>
        </p:nvSpPr>
        <p:spPr>
          <a:xfrm>
            <a:off x="6291072" y="676656"/>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43" name="Shape 41"/>
          <p:cNvSpPr/>
          <p:nvPr/>
        </p:nvSpPr>
        <p:spPr>
          <a:xfrm>
            <a:off x="6291072" y="676656"/>
            <a:ext cx="1161288" cy="201168"/>
          </a:xfrm>
          <a:prstGeom prst="rect">
            <a:avLst/>
          </a:prstGeom>
          <a:solidFill>
            <a:srgbClr val="3D5A80"/>
          </a:solidFill>
          <a:ln w="12700">
            <a:solidFill>
              <a:srgbClr val="3D5A80"/>
            </a:solidFill>
            <a:prstDash val="solid"/>
          </a:ln>
        </p:spPr>
      </p:sp>
      <p:sp>
        <p:nvSpPr>
          <p:cNvPr id="44" name="Text 42"/>
          <p:cNvSpPr/>
          <p:nvPr/>
        </p:nvSpPr>
        <p:spPr>
          <a:xfrm>
            <a:off x="6291072" y="685800"/>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45" name="Text 43"/>
          <p:cNvSpPr/>
          <p:nvPr/>
        </p:nvSpPr>
        <p:spPr>
          <a:xfrm>
            <a:off x="6327648" y="914400"/>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Developer</a:t>
            </a:r>
            <a:endParaRPr lang="en-US" sz="900" dirty="0"/>
          </a:p>
        </p:txBody>
      </p:sp>
      <p:sp>
        <p:nvSpPr>
          <p:cNvPr id="46" name="Text 44"/>
          <p:cNvSpPr/>
          <p:nvPr/>
        </p:nvSpPr>
        <p:spPr>
          <a:xfrm>
            <a:off x="6327648" y="1435608"/>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Código + Tests</a:t>
            </a:r>
            <a:endParaRPr lang="en-US" sz="800" dirty="0"/>
          </a:p>
        </p:txBody>
      </p:sp>
      <p:sp>
        <p:nvSpPr>
          <p:cNvPr id="47" name="Shape 45"/>
          <p:cNvSpPr/>
          <p:nvPr/>
        </p:nvSpPr>
        <p:spPr>
          <a:xfrm>
            <a:off x="7452360" y="1385316"/>
            <a:ext cx="45720" cy="0"/>
          </a:xfrm>
          <a:prstGeom prst="line">
            <a:avLst/>
          </a:prstGeom>
          <a:noFill/>
          <a:ln w="19050">
            <a:solidFill>
              <a:srgbClr val="C84A14"/>
            </a:solidFill>
            <a:prstDash val="solid"/>
          </a:ln>
        </p:spPr>
      </p:sp>
      <p:sp>
        <p:nvSpPr>
          <p:cNvPr id="48" name="Shape 46"/>
          <p:cNvSpPr/>
          <p:nvPr/>
        </p:nvSpPr>
        <p:spPr>
          <a:xfrm>
            <a:off x="7498080" y="676656"/>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49" name="Shape 47"/>
          <p:cNvSpPr/>
          <p:nvPr/>
        </p:nvSpPr>
        <p:spPr>
          <a:xfrm>
            <a:off x="7498080" y="676656"/>
            <a:ext cx="1161288" cy="201168"/>
          </a:xfrm>
          <a:prstGeom prst="rect">
            <a:avLst/>
          </a:prstGeom>
          <a:solidFill>
            <a:srgbClr val="C84A14"/>
          </a:solidFill>
          <a:ln w="12700">
            <a:solidFill>
              <a:srgbClr val="C84A14"/>
            </a:solidFill>
            <a:prstDash val="solid"/>
          </a:ln>
        </p:spPr>
      </p:sp>
      <p:sp>
        <p:nvSpPr>
          <p:cNvPr id="50" name="Text 48"/>
          <p:cNvSpPr/>
          <p:nvPr/>
        </p:nvSpPr>
        <p:spPr>
          <a:xfrm>
            <a:off x="7498080" y="685800"/>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a:t>
            </a:r>
            <a:endParaRPr lang="en-US" sz="900" dirty="0"/>
          </a:p>
        </p:txBody>
      </p:sp>
      <p:sp>
        <p:nvSpPr>
          <p:cNvPr id="51" name="Text 49"/>
          <p:cNvSpPr/>
          <p:nvPr/>
        </p:nvSpPr>
        <p:spPr>
          <a:xfrm>
            <a:off x="7534656" y="914400"/>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Code Reviewer</a:t>
            </a:r>
            <a:endParaRPr lang="en-US" sz="900" dirty="0"/>
          </a:p>
        </p:txBody>
      </p:sp>
      <p:sp>
        <p:nvSpPr>
          <p:cNvPr id="52" name="Text 50"/>
          <p:cNvSpPr/>
          <p:nvPr/>
        </p:nvSpPr>
        <p:spPr>
          <a:xfrm>
            <a:off x="7534656" y="1435608"/>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CR + NCs</a:t>
            </a:r>
            <a:endParaRPr lang="en-US" sz="800" dirty="0"/>
          </a:p>
        </p:txBody>
      </p:sp>
      <p:sp>
        <p:nvSpPr>
          <p:cNvPr id="53" name="Shape 51"/>
          <p:cNvSpPr/>
          <p:nvPr/>
        </p:nvSpPr>
        <p:spPr>
          <a:xfrm>
            <a:off x="7772400" y="1773936"/>
            <a:ext cx="594360" cy="182880"/>
          </a:xfrm>
          <a:prstGeom prst="rect">
            <a:avLst/>
          </a:prstGeom>
          <a:solidFill>
            <a:srgbClr val="C84A14"/>
          </a:solidFill>
          <a:ln w="12700">
            <a:solidFill>
              <a:srgbClr val="C84A14"/>
            </a:solidFill>
            <a:prstDash val="solid"/>
          </a:ln>
        </p:spPr>
      </p:sp>
      <p:sp>
        <p:nvSpPr>
          <p:cNvPr id="54" name="Text 52"/>
          <p:cNvSpPr/>
          <p:nvPr/>
        </p:nvSpPr>
        <p:spPr>
          <a:xfrm>
            <a:off x="7772400" y="1773936"/>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55" name="Shape 53"/>
          <p:cNvSpPr/>
          <p:nvPr/>
        </p:nvSpPr>
        <p:spPr>
          <a:xfrm>
            <a:off x="256032" y="2212848"/>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56" name="Shape 54"/>
          <p:cNvSpPr/>
          <p:nvPr/>
        </p:nvSpPr>
        <p:spPr>
          <a:xfrm>
            <a:off x="256032" y="2212848"/>
            <a:ext cx="1161288" cy="201168"/>
          </a:xfrm>
          <a:prstGeom prst="rect">
            <a:avLst/>
          </a:prstGeom>
          <a:solidFill>
            <a:srgbClr val="C84A14"/>
          </a:solidFill>
          <a:ln w="12700">
            <a:solidFill>
              <a:srgbClr val="C84A14"/>
            </a:solidFill>
            <a:prstDash val="solid"/>
          </a:ln>
        </p:spPr>
      </p:sp>
      <p:sp>
        <p:nvSpPr>
          <p:cNvPr id="57" name="Text 55"/>
          <p:cNvSpPr/>
          <p:nvPr/>
        </p:nvSpPr>
        <p:spPr>
          <a:xfrm>
            <a:off x="256032" y="2221992"/>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5b</a:t>
            </a:r>
            <a:endParaRPr lang="en-US" sz="900" dirty="0"/>
          </a:p>
        </p:txBody>
      </p:sp>
      <p:sp>
        <p:nvSpPr>
          <p:cNvPr id="58" name="Text 56"/>
          <p:cNvSpPr/>
          <p:nvPr/>
        </p:nvSpPr>
        <p:spPr>
          <a:xfrm>
            <a:off x="292608" y="2450592"/>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Security</a:t>
            </a:r>
            <a:endParaRPr lang="en-US" sz="900" dirty="0"/>
          </a:p>
        </p:txBody>
      </p:sp>
      <p:sp>
        <p:nvSpPr>
          <p:cNvPr id="59" name="Text 57"/>
          <p:cNvSpPr/>
          <p:nvPr/>
        </p:nvSpPr>
        <p:spPr>
          <a:xfrm>
            <a:off x="292608" y="2971800"/>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CVE Scan</a:t>
            </a:r>
            <a:endParaRPr lang="en-US" sz="800" dirty="0"/>
          </a:p>
        </p:txBody>
      </p:sp>
      <p:sp>
        <p:nvSpPr>
          <p:cNvPr id="60" name="Shape 58"/>
          <p:cNvSpPr/>
          <p:nvPr/>
        </p:nvSpPr>
        <p:spPr>
          <a:xfrm>
            <a:off x="530352" y="3310128"/>
            <a:ext cx="594360" cy="182880"/>
          </a:xfrm>
          <a:prstGeom prst="rect">
            <a:avLst/>
          </a:prstGeom>
          <a:solidFill>
            <a:srgbClr val="C84A14"/>
          </a:solidFill>
          <a:ln w="12700">
            <a:solidFill>
              <a:srgbClr val="C84A14"/>
            </a:solidFill>
            <a:prstDash val="solid"/>
          </a:ln>
        </p:spPr>
      </p:sp>
      <p:sp>
        <p:nvSpPr>
          <p:cNvPr id="61" name="Text 59"/>
          <p:cNvSpPr/>
          <p:nvPr/>
        </p:nvSpPr>
        <p:spPr>
          <a:xfrm>
            <a:off x="530352" y="3310128"/>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62" name="Shape 60"/>
          <p:cNvSpPr/>
          <p:nvPr/>
        </p:nvSpPr>
        <p:spPr>
          <a:xfrm>
            <a:off x="1417320" y="2921508"/>
            <a:ext cx="45720" cy="0"/>
          </a:xfrm>
          <a:prstGeom prst="line">
            <a:avLst/>
          </a:prstGeom>
          <a:noFill/>
          <a:ln w="19050">
            <a:solidFill>
              <a:srgbClr val="C84A14"/>
            </a:solidFill>
            <a:prstDash val="solid"/>
          </a:ln>
        </p:spPr>
      </p:sp>
      <p:sp>
        <p:nvSpPr>
          <p:cNvPr id="63" name="Shape 61"/>
          <p:cNvSpPr/>
          <p:nvPr/>
        </p:nvSpPr>
        <p:spPr>
          <a:xfrm>
            <a:off x="1463040" y="2212848"/>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64" name="Shape 62"/>
          <p:cNvSpPr/>
          <p:nvPr/>
        </p:nvSpPr>
        <p:spPr>
          <a:xfrm>
            <a:off x="1463040" y="2212848"/>
            <a:ext cx="1161288" cy="201168"/>
          </a:xfrm>
          <a:prstGeom prst="rect">
            <a:avLst/>
          </a:prstGeom>
          <a:solidFill>
            <a:srgbClr val="2F6B61"/>
          </a:solidFill>
          <a:ln w="12700">
            <a:solidFill>
              <a:srgbClr val="2F6B61"/>
            </a:solidFill>
            <a:prstDash val="solid"/>
          </a:ln>
        </p:spPr>
      </p:sp>
      <p:sp>
        <p:nvSpPr>
          <p:cNvPr id="65" name="Text 63"/>
          <p:cNvSpPr/>
          <p:nvPr/>
        </p:nvSpPr>
        <p:spPr>
          <a:xfrm>
            <a:off x="1463040" y="2221992"/>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6</a:t>
            </a:r>
            <a:endParaRPr lang="en-US" sz="900" dirty="0"/>
          </a:p>
        </p:txBody>
      </p:sp>
      <p:sp>
        <p:nvSpPr>
          <p:cNvPr id="66" name="Text 64"/>
          <p:cNvSpPr/>
          <p:nvPr/>
        </p:nvSpPr>
        <p:spPr>
          <a:xfrm>
            <a:off x="1499616" y="2450592"/>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QA Tester</a:t>
            </a:r>
            <a:endParaRPr lang="en-US" sz="900" dirty="0"/>
          </a:p>
        </p:txBody>
      </p:sp>
      <p:sp>
        <p:nvSpPr>
          <p:cNvPr id="67" name="Text 65"/>
          <p:cNvSpPr/>
          <p:nvPr/>
        </p:nvSpPr>
        <p:spPr>
          <a:xfrm>
            <a:off x="1499616" y="2971800"/>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Test Plan</a:t>
            </a:r>
            <a:endParaRPr lang="en-US" sz="800" dirty="0"/>
          </a:p>
        </p:txBody>
      </p:sp>
      <p:sp>
        <p:nvSpPr>
          <p:cNvPr id="68" name="Shape 66"/>
          <p:cNvSpPr/>
          <p:nvPr/>
        </p:nvSpPr>
        <p:spPr>
          <a:xfrm>
            <a:off x="1737360" y="3310128"/>
            <a:ext cx="594360" cy="182880"/>
          </a:xfrm>
          <a:prstGeom prst="rect">
            <a:avLst/>
          </a:prstGeom>
          <a:solidFill>
            <a:srgbClr val="C84A14"/>
          </a:solidFill>
          <a:ln w="12700">
            <a:solidFill>
              <a:srgbClr val="C84A14"/>
            </a:solidFill>
            <a:prstDash val="solid"/>
          </a:ln>
        </p:spPr>
      </p:sp>
      <p:sp>
        <p:nvSpPr>
          <p:cNvPr id="69" name="Text 67"/>
          <p:cNvSpPr/>
          <p:nvPr/>
        </p:nvSpPr>
        <p:spPr>
          <a:xfrm>
            <a:off x="1737360" y="3310128"/>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70" name="Shape 68"/>
          <p:cNvSpPr/>
          <p:nvPr/>
        </p:nvSpPr>
        <p:spPr>
          <a:xfrm>
            <a:off x="2624328" y="2921508"/>
            <a:ext cx="45720" cy="0"/>
          </a:xfrm>
          <a:prstGeom prst="line">
            <a:avLst/>
          </a:prstGeom>
          <a:noFill/>
          <a:ln w="19050">
            <a:solidFill>
              <a:srgbClr val="C84A14"/>
            </a:solidFill>
            <a:prstDash val="solid"/>
          </a:ln>
        </p:spPr>
      </p:sp>
      <p:sp>
        <p:nvSpPr>
          <p:cNvPr id="71" name="Shape 69"/>
          <p:cNvSpPr/>
          <p:nvPr/>
        </p:nvSpPr>
        <p:spPr>
          <a:xfrm>
            <a:off x="2670048" y="2212848"/>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72" name="Shape 70"/>
          <p:cNvSpPr/>
          <p:nvPr/>
        </p:nvSpPr>
        <p:spPr>
          <a:xfrm>
            <a:off x="2670048" y="2212848"/>
            <a:ext cx="1161288" cy="201168"/>
          </a:xfrm>
          <a:prstGeom prst="rect">
            <a:avLst/>
          </a:prstGeom>
          <a:solidFill>
            <a:srgbClr val="3D5A80"/>
          </a:solidFill>
          <a:ln w="12700">
            <a:solidFill>
              <a:srgbClr val="3D5A80"/>
            </a:solidFill>
            <a:prstDash val="solid"/>
          </a:ln>
        </p:spPr>
      </p:sp>
      <p:sp>
        <p:nvSpPr>
          <p:cNvPr id="73" name="Text 71"/>
          <p:cNvSpPr/>
          <p:nvPr/>
        </p:nvSpPr>
        <p:spPr>
          <a:xfrm>
            <a:off x="2670048" y="2221992"/>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a:t>
            </a:r>
            <a:endParaRPr lang="en-US" sz="900" dirty="0"/>
          </a:p>
        </p:txBody>
      </p:sp>
      <p:sp>
        <p:nvSpPr>
          <p:cNvPr id="74" name="Text 72"/>
          <p:cNvSpPr/>
          <p:nvPr/>
        </p:nvSpPr>
        <p:spPr>
          <a:xfrm>
            <a:off x="2706624" y="2450592"/>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DevOps</a:t>
            </a:r>
            <a:endParaRPr lang="en-US" sz="900" dirty="0"/>
          </a:p>
        </p:txBody>
      </p:sp>
      <p:sp>
        <p:nvSpPr>
          <p:cNvPr id="75" name="Text 73"/>
          <p:cNvSpPr/>
          <p:nvPr/>
        </p:nvSpPr>
        <p:spPr>
          <a:xfrm>
            <a:off x="2706624" y="2971800"/>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CI/CD Release</a:t>
            </a:r>
            <a:endParaRPr lang="en-US" sz="800" dirty="0"/>
          </a:p>
        </p:txBody>
      </p:sp>
      <p:sp>
        <p:nvSpPr>
          <p:cNvPr id="76" name="Shape 74"/>
          <p:cNvSpPr/>
          <p:nvPr/>
        </p:nvSpPr>
        <p:spPr>
          <a:xfrm>
            <a:off x="2944368" y="3310128"/>
            <a:ext cx="594360" cy="182880"/>
          </a:xfrm>
          <a:prstGeom prst="rect">
            <a:avLst/>
          </a:prstGeom>
          <a:solidFill>
            <a:srgbClr val="C84A14"/>
          </a:solidFill>
          <a:ln w="12700">
            <a:solidFill>
              <a:srgbClr val="C84A14"/>
            </a:solidFill>
            <a:prstDash val="solid"/>
          </a:ln>
        </p:spPr>
      </p:sp>
      <p:sp>
        <p:nvSpPr>
          <p:cNvPr id="77" name="Text 75"/>
          <p:cNvSpPr/>
          <p:nvPr/>
        </p:nvSpPr>
        <p:spPr>
          <a:xfrm>
            <a:off x="2944368" y="3310128"/>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78" name="Shape 76"/>
          <p:cNvSpPr/>
          <p:nvPr/>
        </p:nvSpPr>
        <p:spPr>
          <a:xfrm>
            <a:off x="3831336" y="2921508"/>
            <a:ext cx="45720" cy="0"/>
          </a:xfrm>
          <a:prstGeom prst="line">
            <a:avLst/>
          </a:prstGeom>
          <a:noFill/>
          <a:ln w="19050">
            <a:solidFill>
              <a:srgbClr val="C84A14"/>
            </a:solidFill>
            <a:prstDash val="solid"/>
          </a:ln>
        </p:spPr>
      </p:sp>
      <p:sp>
        <p:nvSpPr>
          <p:cNvPr id="79" name="Shape 77"/>
          <p:cNvSpPr/>
          <p:nvPr/>
        </p:nvSpPr>
        <p:spPr>
          <a:xfrm>
            <a:off x="3877056" y="2212848"/>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80" name="Shape 78"/>
          <p:cNvSpPr/>
          <p:nvPr/>
        </p:nvSpPr>
        <p:spPr>
          <a:xfrm>
            <a:off x="3877056" y="2212848"/>
            <a:ext cx="1161288" cy="201168"/>
          </a:xfrm>
          <a:prstGeom prst="rect">
            <a:avLst/>
          </a:prstGeom>
          <a:solidFill>
            <a:srgbClr val="2F6B61"/>
          </a:solidFill>
          <a:ln w="12700">
            <a:solidFill>
              <a:srgbClr val="2F6B61"/>
            </a:solidFill>
            <a:prstDash val="solid"/>
          </a:ln>
        </p:spPr>
      </p:sp>
      <p:sp>
        <p:nvSpPr>
          <p:cNvPr id="81" name="Text 79"/>
          <p:cNvSpPr/>
          <p:nvPr/>
        </p:nvSpPr>
        <p:spPr>
          <a:xfrm>
            <a:off x="3877056" y="2221992"/>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a:t>
            </a:r>
            <a:endParaRPr lang="en-US" sz="900" dirty="0"/>
          </a:p>
        </p:txBody>
      </p:sp>
      <p:sp>
        <p:nvSpPr>
          <p:cNvPr id="82" name="Text 80"/>
          <p:cNvSpPr/>
          <p:nvPr/>
        </p:nvSpPr>
        <p:spPr>
          <a:xfrm>
            <a:off x="3913632" y="2450592"/>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Doc Agent</a:t>
            </a:r>
            <a:endParaRPr lang="en-US" sz="900" dirty="0"/>
          </a:p>
        </p:txBody>
      </p:sp>
      <p:sp>
        <p:nvSpPr>
          <p:cNvPr id="83" name="Text 81"/>
          <p:cNvSpPr/>
          <p:nvPr/>
        </p:nvSpPr>
        <p:spPr>
          <a:xfrm>
            <a:off x="3913632" y="2971800"/>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13 Entregables</a:t>
            </a:r>
            <a:endParaRPr lang="en-US" sz="800" dirty="0"/>
          </a:p>
        </p:txBody>
      </p:sp>
      <p:sp>
        <p:nvSpPr>
          <p:cNvPr id="84" name="Shape 82"/>
          <p:cNvSpPr/>
          <p:nvPr/>
        </p:nvSpPr>
        <p:spPr>
          <a:xfrm>
            <a:off x="4151376" y="3310128"/>
            <a:ext cx="594360" cy="182880"/>
          </a:xfrm>
          <a:prstGeom prst="rect">
            <a:avLst/>
          </a:prstGeom>
          <a:solidFill>
            <a:srgbClr val="C84A14"/>
          </a:solidFill>
          <a:ln w="12700">
            <a:solidFill>
              <a:srgbClr val="C84A14"/>
            </a:solidFill>
            <a:prstDash val="solid"/>
          </a:ln>
        </p:spPr>
      </p:sp>
      <p:sp>
        <p:nvSpPr>
          <p:cNvPr id="85" name="Text 83"/>
          <p:cNvSpPr/>
          <p:nvPr/>
        </p:nvSpPr>
        <p:spPr>
          <a:xfrm>
            <a:off x="4151376" y="3310128"/>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86" name="Shape 84"/>
          <p:cNvSpPr/>
          <p:nvPr/>
        </p:nvSpPr>
        <p:spPr>
          <a:xfrm>
            <a:off x="5038344" y="2921508"/>
            <a:ext cx="45720" cy="0"/>
          </a:xfrm>
          <a:prstGeom prst="line">
            <a:avLst/>
          </a:prstGeom>
          <a:noFill/>
          <a:ln w="19050">
            <a:solidFill>
              <a:srgbClr val="C84A14"/>
            </a:solidFill>
            <a:prstDash val="solid"/>
          </a:ln>
        </p:spPr>
      </p:sp>
      <p:sp>
        <p:nvSpPr>
          <p:cNvPr id="87" name="Shape 85"/>
          <p:cNvSpPr/>
          <p:nvPr/>
        </p:nvSpPr>
        <p:spPr>
          <a:xfrm>
            <a:off x="5084064" y="2212848"/>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88" name="Shape 86"/>
          <p:cNvSpPr/>
          <p:nvPr/>
        </p:nvSpPr>
        <p:spPr>
          <a:xfrm>
            <a:off x="5084064" y="2212848"/>
            <a:ext cx="1161288" cy="201168"/>
          </a:xfrm>
          <a:prstGeom prst="rect">
            <a:avLst/>
          </a:prstGeom>
          <a:solidFill>
            <a:srgbClr val="2F6B61"/>
          </a:solidFill>
          <a:ln w="12700">
            <a:solidFill>
              <a:srgbClr val="2F6B61"/>
            </a:solidFill>
            <a:prstDash val="solid"/>
          </a:ln>
        </p:spPr>
      </p:sp>
      <p:sp>
        <p:nvSpPr>
          <p:cNvPr id="89" name="Text 87"/>
          <p:cNvSpPr/>
          <p:nvPr/>
        </p:nvSpPr>
        <p:spPr>
          <a:xfrm>
            <a:off x="5084064" y="2221992"/>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8b</a:t>
            </a:r>
            <a:endParaRPr lang="en-US" sz="900" dirty="0"/>
          </a:p>
        </p:txBody>
      </p:sp>
      <p:sp>
        <p:nvSpPr>
          <p:cNvPr id="90" name="Text 88"/>
          <p:cNvSpPr/>
          <p:nvPr/>
        </p:nvSpPr>
        <p:spPr>
          <a:xfrm>
            <a:off x="5120640" y="2450592"/>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FA Agent</a:t>
            </a:r>
            <a:endParaRPr lang="en-US" sz="900" dirty="0"/>
          </a:p>
        </p:txBody>
      </p:sp>
      <p:sp>
        <p:nvSpPr>
          <p:cNvPr id="91" name="Text 89"/>
          <p:cNvSpPr/>
          <p:nvPr/>
        </p:nvSpPr>
        <p:spPr>
          <a:xfrm>
            <a:off x="5120640" y="2971800"/>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Consolidación</a:t>
            </a:r>
            <a:endParaRPr lang="en-US" sz="800" dirty="0"/>
          </a:p>
        </p:txBody>
      </p:sp>
      <p:sp>
        <p:nvSpPr>
          <p:cNvPr id="92" name="Shape 90"/>
          <p:cNvSpPr/>
          <p:nvPr/>
        </p:nvSpPr>
        <p:spPr>
          <a:xfrm>
            <a:off x="6245352" y="2921508"/>
            <a:ext cx="45720" cy="0"/>
          </a:xfrm>
          <a:prstGeom prst="line">
            <a:avLst/>
          </a:prstGeom>
          <a:noFill/>
          <a:ln w="19050">
            <a:solidFill>
              <a:srgbClr val="C84A14"/>
            </a:solidFill>
            <a:prstDash val="solid"/>
          </a:ln>
        </p:spPr>
      </p:sp>
      <p:sp>
        <p:nvSpPr>
          <p:cNvPr id="93" name="Shape 91"/>
          <p:cNvSpPr/>
          <p:nvPr/>
        </p:nvSpPr>
        <p:spPr>
          <a:xfrm>
            <a:off x="6291072" y="2212848"/>
            <a:ext cx="1161288" cy="141732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94" name="Shape 92"/>
          <p:cNvSpPr/>
          <p:nvPr/>
        </p:nvSpPr>
        <p:spPr>
          <a:xfrm>
            <a:off x="6291072" y="2212848"/>
            <a:ext cx="1161288" cy="201168"/>
          </a:xfrm>
          <a:prstGeom prst="rect">
            <a:avLst/>
          </a:prstGeom>
          <a:solidFill>
            <a:srgbClr val="C84A14"/>
          </a:solidFill>
          <a:ln w="12700">
            <a:solidFill>
              <a:srgbClr val="C84A14"/>
            </a:solidFill>
            <a:prstDash val="solid"/>
          </a:ln>
        </p:spPr>
      </p:sp>
      <p:sp>
        <p:nvSpPr>
          <p:cNvPr id="95" name="Text 93"/>
          <p:cNvSpPr/>
          <p:nvPr/>
        </p:nvSpPr>
        <p:spPr>
          <a:xfrm>
            <a:off x="6291072" y="2221992"/>
            <a:ext cx="1161288" cy="182880"/>
          </a:xfrm>
          <a:prstGeom prst="rect">
            <a:avLst/>
          </a:prstGeom>
          <a:noFill/>
          <a:ln/>
        </p:spPr>
        <p:txBody>
          <a:bodyPr wrap="square"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9</a:t>
            </a:r>
            <a:endParaRPr lang="en-US" sz="900" dirty="0"/>
          </a:p>
        </p:txBody>
      </p:sp>
      <p:sp>
        <p:nvSpPr>
          <p:cNvPr id="96" name="Text 94"/>
          <p:cNvSpPr/>
          <p:nvPr/>
        </p:nvSpPr>
        <p:spPr>
          <a:xfrm>
            <a:off x="6327648" y="2450592"/>
            <a:ext cx="1088136" cy="502920"/>
          </a:xfrm>
          <a:prstGeom prst="rect">
            <a:avLst/>
          </a:prstGeom>
          <a:noFill/>
          <a:ln/>
        </p:spPr>
        <p:txBody>
          <a:bodyPr wrap="square" rtlCol="0" anchor="ctr"/>
          <a:lstStyle/>
          <a:p>
            <a:pPr algn="ctr" indent="0" marL="0">
              <a:buNone/>
            </a:pPr>
            <a:r>
              <a:rPr lang="en-US" sz="900" b="1" dirty="0">
                <a:solidFill>
                  <a:srgbClr val="334155"/>
                </a:solidFill>
                <a:latin typeface="Arial" pitchFamily="34" charset="0"/>
                <a:ea typeface="Arial" pitchFamily="34" charset="-122"/>
                <a:cs typeface="Arial" pitchFamily="34" charset="-120"/>
              </a:rPr>
              <a:t>Workflow Mgr</a:t>
            </a:r>
            <a:endParaRPr lang="en-US" sz="900" dirty="0"/>
          </a:p>
        </p:txBody>
      </p:sp>
      <p:sp>
        <p:nvSpPr>
          <p:cNvPr id="97" name="Text 95"/>
          <p:cNvSpPr/>
          <p:nvPr/>
        </p:nvSpPr>
        <p:spPr>
          <a:xfrm>
            <a:off x="6327648" y="2971800"/>
            <a:ext cx="1088136" cy="274320"/>
          </a:xfrm>
          <a:prstGeom prst="rect">
            <a:avLst/>
          </a:prstGeom>
          <a:noFill/>
          <a:ln/>
        </p:spPr>
        <p:txBody>
          <a:bodyPr wrap="square" rtlCol="0" anchor="ctr"/>
          <a:lstStyle/>
          <a:p>
            <a:pPr algn="ctr" indent="0" marL="0">
              <a:buNone/>
            </a:pPr>
            <a:r>
              <a:rPr lang="en-US" sz="800" dirty="0">
                <a:solidFill>
                  <a:srgbClr val="64748B"/>
                </a:solidFill>
                <a:latin typeface="Arial" pitchFamily="34" charset="0"/>
                <a:ea typeface="Arial" pitchFamily="34" charset="-122"/>
                <a:cs typeface="Arial" pitchFamily="34" charset="-120"/>
              </a:rPr>
              <a:t>Cierre Sprint</a:t>
            </a:r>
            <a:endParaRPr lang="en-US" sz="800" dirty="0"/>
          </a:p>
        </p:txBody>
      </p:sp>
      <p:sp>
        <p:nvSpPr>
          <p:cNvPr id="98" name="Shape 96"/>
          <p:cNvSpPr/>
          <p:nvPr/>
        </p:nvSpPr>
        <p:spPr>
          <a:xfrm>
            <a:off x="6565392" y="3310128"/>
            <a:ext cx="594360" cy="182880"/>
          </a:xfrm>
          <a:prstGeom prst="rect">
            <a:avLst/>
          </a:prstGeom>
          <a:solidFill>
            <a:srgbClr val="C84A14"/>
          </a:solidFill>
          <a:ln w="12700">
            <a:solidFill>
              <a:srgbClr val="C84A14"/>
            </a:solidFill>
            <a:prstDash val="solid"/>
          </a:ln>
        </p:spPr>
      </p:sp>
      <p:sp>
        <p:nvSpPr>
          <p:cNvPr id="99" name="Text 97"/>
          <p:cNvSpPr/>
          <p:nvPr/>
        </p:nvSpPr>
        <p:spPr>
          <a:xfrm>
            <a:off x="6565392" y="3310128"/>
            <a:ext cx="594360" cy="182880"/>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 GATE</a:t>
            </a:r>
            <a:endParaRPr lang="en-US" sz="700" dirty="0"/>
          </a:p>
        </p:txBody>
      </p:sp>
      <p:sp>
        <p:nvSpPr>
          <p:cNvPr id="100" name="Shape 98"/>
          <p:cNvSpPr/>
          <p:nvPr/>
        </p:nvSpPr>
        <p:spPr>
          <a:xfrm>
            <a:off x="256032" y="4645152"/>
            <a:ext cx="8631936" cy="320040"/>
          </a:xfrm>
          <a:prstGeom prst="rect">
            <a:avLst/>
          </a:prstGeom>
          <a:solidFill>
            <a:srgbClr val="FEF3C7"/>
          </a:solidFill>
          <a:ln w="12700">
            <a:solidFill>
              <a:srgbClr val="F59E0B"/>
            </a:solidFill>
            <a:prstDash val="solid"/>
          </a:ln>
        </p:spPr>
      </p:sp>
      <p:sp>
        <p:nvSpPr>
          <p:cNvPr id="101" name="Text 99"/>
          <p:cNvSpPr/>
          <p:nvPr/>
        </p:nvSpPr>
        <p:spPr>
          <a:xfrm>
            <a:off x="320040" y="4645152"/>
            <a:ext cx="8503920" cy="32004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Todo el proceso es supervisado por Experis, que aprueba cada gate antes de continuar · Pasos 2b, 3b y 8b ejecutados por el FA Agent — dominio bancario especializado</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E5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4A14"/>
          </a:solidFill>
          <a:ln w="12700">
            <a:solidFill>
              <a:srgbClr val="C84A14"/>
            </a:solidFill>
            <a:prstDash val="solid"/>
          </a:ln>
        </p:spPr>
      </p:sp>
      <p:sp>
        <p:nvSpPr>
          <p:cNvPr id="3" name="Text 1"/>
          <p:cNvSpPr/>
          <p:nvPr/>
        </p:nvSpPr>
        <p:spPr>
          <a:xfrm>
            <a:off x="457200" y="73152"/>
            <a:ext cx="68580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20 agentes especializados</a:t>
            </a:r>
            <a:endParaRPr lang="en-US" sz="2200" dirty="0"/>
          </a:p>
        </p:txBody>
      </p:sp>
      <p:sp>
        <p:nvSpPr>
          <p:cNvPr id="4" name="Text 2"/>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5" name="Text 3"/>
          <p:cNvSpPr/>
          <p:nvPr/>
        </p:nvSpPr>
        <p:spPr>
          <a:xfrm>
            <a:off x="457200" y="493776"/>
            <a:ext cx="8229600" cy="228600"/>
          </a:xfrm>
          <a:prstGeom prst="rect">
            <a:avLst/>
          </a:prstGeom>
          <a:noFill/>
          <a:ln/>
        </p:spPr>
        <p:txBody>
          <a:bodyPr wrap="square" rtlCol="0" anchor="ctr"/>
          <a:lstStyle/>
          <a:p>
            <a:pPr indent="0" marL="0">
              <a:buNone/>
            </a:pPr>
            <a:r>
              <a:rPr lang="en-US" sz="1100" dirty="0">
                <a:solidFill>
                  <a:srgbClr val="64748B"/>
                </a:solidFill>
                <a:latin typeface="Arial" pitchFamily="34" charset="0"/>
                <a:ea typeface="Arial" pitchFamily="34" charset="-122"/>
                <a:cs typeface="Arial" pitchFamily="34" charset="-120"/>
              </a:rPr>
              <a:t>Cada agente es un experto digital autónomo en su dominio de actuación</a:t>
            </a:r>
            <a:endParaRPr lang="en-US" sz="1100" dirty="0"/>
          </a:p>
        </p:txBody>
      </p:sp>
      <p:sp>
        <p:nvSpPr>
          <p:cNvPr id="6" name="Shape 4"/>
          <p:cNvSpPr/>
          <p:nvPr/>
        </p:nvSpPr>
        <p:spPr>
          <a:xfrm>
            <a:off x="274320" y="804672"/>
            <a:ext cx="2148840" cy="2011680"/>
          </a:xfrm>
          <a:prstGeom prst="rect">
            <a:avLst/>
          </a:prstGeom>
          <a:solidFill>
            <a:srgbClr val="1C3452"/>
          </a:solidFill>
          <a:ln w="12700">
            <a:solidFill>
              <a:srgbClr val="3D5A80"/>
            </a:solidFill>
            <a:prstDash val="solid"/>
          </a:ln>
        </p:spPr>
      </p:sp>
      <p:sp>
        <p:nvSpPr>
          <p:cNvPr id="7" name="Shape 5"/>
          <p:cNvSpPr/>
          <p:nvPr/>
        </p:nvSpPr>
        <p:spPr>
          <a:xfrm>
            <a:off x="274320" y="804672"/>
            <a:ext cx="2148840" cy="256032"/>
          </a:xfrm>
          <a:prstGeom prst="rect">
            <a:avLst/>
          </a:prstGeom>
          <a:solidFill>
            <a:srgbClr val="1B3A6B"/>
          </a:solidFill>
          <a:ln w="12700">
            <a:solidFill>
              <a:srgbClr val="1B3A6B"/>
            </a:solidFill>
            <a:prstDash val="solid"/>
          </a:ln>
        </p:spPr>
      </p:sp>
      <p:sp>
        <p:nvSpPr>
          <p:cNvPr id="8" name="Text 6"/>
          <p:cNvSpPr/>
          <p:nvPr/>
        </p:nvSpPr>
        <p:spPr>
          <a:xfrm>
            <a:off x="384048" y="804672"/>
            <a:ext cx="2039112" cy="2560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GESTIÓN</a:t>
            </a:r>
            <a:endParaRPr lang="en-US" sz="900" dirty="0"/>
          </a:p>
        </p:txBody>
      </p:sp>
      <p:sp>
        <p:nvSpPr>
          <p:cNvPr id="9" name="Text 7"/>
          <p:cNvSpPr/>
          <p:nvPr/>
        </p:nvSpPr>
        <p:spPr>
          <a:xfrm>
            <a:off x="384048" y="1097280"/>
            <a:ext cx="1965960" cy="1682496"/>
          </a:xfrm>
          <a:prstGeom prst="rect">
            <a:avLst/>
          </a:prstGeom>
          <a:noFill/>
          <a:ln/>
        </p:spPr>
        <p:txBody>
          <a:bodyPr wrap="square" rtlCol="0" anchor="t"/>
          <a:lstStyle/>
          <a:p>
            <a:pPr indent="0" marL="0">
              <a:buNone/>
            </a:pPr>
            <a:r>
              <a:rPr lang="en-US" sz="850" dirty="0">
                <a:solidFill>
                  <a:srgbClr val="E8ECF0"/>
                </a:solidFill>
                <a:latin typeface="Arial" pitchFamily="34" charset="0"/>
                <a:ea typeface="Arial" pitchFamily="34" charset="-122"/>
                <a:cs typeface="Arial" pitchFamily="34" charset="-120"/>
              </a:rPr>
              <a:t>● Orchestrator</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Scrum Master</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Requirements</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Workflow Mgr</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FA Agent ★</a:t>
            </a:r>
            <a:endParaRPr lang="en-US" sz="850" dirty="0"/>
          </a:p>
        </p:txBody>
      </p:sp>
      <p:sp>
        <p:nvSpPr>
          <p:cNvPr id="10" name="Shape 8"/>
          <p:cNvSpPr/>
          <p:nvPr/>
        </p:nvSpPr>
        <p:spPr>
          <a:xfrm>
            <a:off x="2496312" y="804672"/>
            <a:ext cx="2148840" cy="1005840"/>
          </a:xfrm>
          <a:prstGeom prst="rect">
            <a:avLst/>
          </a:prstGeom>
          <a:solidFill>
            <a:srgbClr val="1C3452"/>
          </a:solidFill>
          <a:ln w="12700">
            <a:solidFill>
              <a:srgbClr val="3D5A80"/>
            </a:solidFill>
            <a:prstDash val="solid"/>
          </a:ln>
        </p:spPr>
      </p:sp>
      <p:sp>
        <p:nvSpPr>
          <p:cNvPr id="11" name="Shape 9"/>
          <p:cNvSpPr/>
          <p:nvPr/>
        </p:nvSpPr>
        <p:spPr>
          <a:xfrm>
            <a:off x="2496312" y="804672"/>
            <a:ext cx="2148840" cy="256032"/>
          </a:xfrm>
          <a:prstGeom prst="rect">
            <a:avLst/>
          </a:prstGeom>
          <a:solidFill>
            <a:srgbClr val="3D5A80"/>
          </a:solidFill>
          <a:ln w="12700">
            <a:solidFill>
              <a:srgbClr val="3D5A80"/>
            </a:solidFill>
            <a:prstDash val="solid"/>
          </a:ln>
        </p:spPr>
      </p:sp>
      <p:sp>
        <p:nvSpPr>
          <p:cNvPr id="12" name="Text 10"/>
          <p:cNvSpPr/>
          <p:nvPr/>
        </p:nvSpPr>
        <p:spPr>
          <a:xfrm>
            <a:off x="2606040" y="804672"/>
            <a:ext cx="2039112" cy="2560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ARQUITECTURA</a:t>
            </a:r>
            <a:endParaRPr lang="en-US" sz="900" dirty="0"/>
          </a:p>
        </p:txBody>
      </p:sp>
      <p:sp>
        <p:nvSpPr>
          <p:cNvPr id="13" name="Text 11"/>
          <p:cNvSpPr/>
          <p:nvPr/>
        </p:nvSpPr>
        <p:spPr>
          <a:xfrm>
            <a:off x="2606040" y="1097280"/>
            <a:ext cx="1965960" cy="676656"/>
          </a:xfrm>
          <a:prstGeom prst="rect">
            <a:avLst/>
          </a:prstGeom>
          <a:noFill/>
          <a:ln/>
        </p:spPr>
        <p:txBody>
          <a:bodyPr wrap="square" rtlCol="0" anchor="t"/>
          <a:lstStyle/>
          <a:p>
            <a:pPr indent="0" marL="0">
              <a:buNone/>
            </a:pPr>
            <a:r>
              <a:rPr lang="en-US" sz="850" dirty="0">
                <a:solidFill>
                  <a:srgbClr val="E8ECF0"/>
                </a:solidFill>
                <a:latin typeface="Arial" pitchFamily="34" charset="0"/>
                <a:ea typeface="Arial" pitchFamily="34" charset="-122"/>
                <a:cs typeface="Arial" pitchFamily="34" charset="-120"/>
              </a:rPr>
              <a:t>● Architect</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Database Designer</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API Designer</a:t>
            </a:r>
            <a:endParaRPr lang="en-US" sz="850" dirty="0"/>
          </a:p>
        </p:txBody>
      </p:sp>
      <p:sp>
        <p:nvSpPr>
          <p:cNvPr id="14" name="Shape 12"/>
          <p:cNvSpPr/>
          <p:nvPr/>
        </p:nvSpPr>
        <p:spPr>
          <a:xfrm>
            <a:off x="4718304" y="804672"/>
            <a:ext cx="4151376" cy="1005840"/>
          </a:xfrm>
          <a:prstGeom prst="rect">
            <a:avLst/>
          </a:prstGeom>
          <a:solidFill>
            <a:srgbClr val="1C3452"/>
          </a:solidFill>
          <a:ln w="12700">
            <a:solidFill>
              <a:srgbClr val="3D5A80"/>
            </a:solidFill>
            <a:prstDash val="solid"/>
          </a:ln>
        </p:spPr>
      </p:sp>
      <p:sp>
        <p:nvSpPr>
          <p:cNvPr id="15" name="Shape 13"/>
          <p:cNvSpPr/>
          <p:nvPr/>
        </p:nvSpPr>
        <p:spPr>
          <a:xfrm>
            <a:off x="4718304" y="804672"/>
            <a:ext cx="4151376" cy="256032"/>
          </a:xfrm>
          <a:prstGeom prst="rect">
            <a:avLst/>
          </a:prstGeom>
          <a:solidFill>
            <a:srgbClr val="2F6B61"/>
          </a:solidFill>
          <a:ln w="12700">
            <a:solidFill>
              <a:srgbClr val="2F6B61"/>
            </a:solidFill>
            <a:prstDash val="solid"/>
          </a:ln>
        </p:spPr>
      </p:sp>
      <p:sp>
        <p:nvSpPr>
          <p:cNvPr id="16" name="Text 14"/>
          <p:cNvSpPr/>
          <p:nvPr/>
        </p:nvSpPr>
        <p:spPr>
          <a:xfrm>
            <a:off x="4828032" y="804672"/>
            <a:ext cx="4041648" cy="2560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DESARROLLO</a:t>
            </a:r>
            <a:endParaRPr lang="en-US" sz="900" dirty="0"/>
          </a:p>
        </p:txBody>
      </p:sp>
      <p:sp>
        <p:nvSpPr>
          <p:cNvPr id="17" name="Text 15"/>
          <p:cNvSpPr/>
          <p:nvPr/>
        </p:nvSpPr>
        <p:spPr>
          <a:xfrm>
            <a:off x="4828032" y="1097280"/>
            <a:ext cx="3968496" cy="676656"/>
          </a:xfrm>
          <a:prstGeom prst="rect">
            <a:avLst/>
          </a:prstGeom>
          <a:noFill/>
          <a:ln/>
        </p:spPr>
        <p:txBody>
          <a:bodyPr wrap="square" rtlCol="0" anchor="t"/>
          <a:lstStyle/>
          <a:p>
            <a:pPr indent="0" marL="0">
              <a:buNone/>
            </a:pPr>
            <a:r>
              <a:rPr lang="en-US" sz="850" dirty="0">
                <a:solidFill>
                  <a:srgbClr val="E8ECF0"/>
                </a:solidFill>
                <a:latin typeface="Arial" pitchFamily="34" charset="0"/>
                <a:ea typeface="Arial" pitchFamily="34" charset="-122"/>
                <a:cs typeface="Arial" pitchFamily="34" charset="-120"/>
              </a:rPr>
              <a:t>● Developer Core</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Java Dev</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Angular Dev</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Node.js Dev</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React Dev</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.NET Dev</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Code Reviewer</a:t>
            </a:r>
            <a:endParaRPr lang="en-US" sz="850" dirty="0"/>
          </a:p>
        </p:txBody>
      </p:sp>
      <p:sp>
        <p:nvSpPr>
          <p:cNvPr id="18" name="Shape 16"/>
          <p:cNvSpPr/>
          <p:nvPr/>
        </p:nvSpPr>
        <p:spPr>
          <a:xfrm>
            <a:off x="274320" y="2889504"/>
            <a:ext cx="2148840" cy="1097280"/>
          </a:xfrm>
          <a:prstGeom prst="rect">
            <a:avLst/>
          </a:prstGeom>
          <a:solidFill>
            <a:srgbClr val="1C3452"/>
          </a:solidFill>
          <a:ln w="12700">
            <a:solidFill>
              <a:srgbClr val="3D5A80"/>
            </a:solidFill>
            <a:prstDash val="solid"/>
          </a:ln>
        </p:spPr>
      </p:sp>
      <p:sp>
        <p:nvSpPr>
          <p:cNvPr id="19" name="Shape 17"/>
          <p:cNvSpPr/>
          <p:nvPr/>
        </p:nvSpPr>
        <p:spPr>
          <a:xfrm>
            <a:off x="274320" y="2889504"/>
            <a:ext cx="2148840" cy="256032"/>
          </a:xfrm>
          <a:prstGeom prst="rect">
            <a:avLst/>
          </a:prstGeom>
          <a:solidFill>
            <a:srgbClr val="6D3FA0"/>
          </a:solidFill>
          <a:ln w="12700">
            <a:solidFill>
              <a:srgbClr val="6D3FA0"/>
            </a:solidFill>
            <a:prstDash val="solid"/>
          </a:ln>
        </p:spPr>
      </p:sp>
      <p:sp>
        <p:nvSpPr>
          <p:cNvPr id="20" name="Text 18"/>
          <p:cNvSpPr/>
          <p:nvPr/>
        </p:nvSpPr>
        <p:spPr>
          <a:xfrm>
            <a:off x="384048" y="2889504"/>
            <a:ext cx="2039112" cy="2560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CALIDAD</a:t>
            </a:r>
            <a:endParaRPr lang="en-US" sz="900" dirty="0"/>
          </a:p>
        </p:txBody>
      </p:sp>
      <p:sp>
        <p:nvSpPr>
          <p:cNvPr id="21" name="Text 19"/>
          <p:cNvSpPr/>
          <p:nvPr/>
        </p:nvSpPr>
        <p:spPr>
          <a:xfrm>
            <a:off x="384048" y="3182112"/>
            <a:ext cx="1965960" cy="768096"/>
          </a:xfrm>
          <a:prstGeom prst="rect">
            <a:avLst/>
          </a:prstGeom>
          <a:noFill/>
          <a:ln/>
        </p:spPr>
        <p:txBody>
          <a:bodyPr wrap="square" rtlCol="0" anchor="t"/>
          <a:lstStyle/>
          <a:p>
            <a:pPr indent="0" marL="0">
              <a:buNone/>
            </a:pPr>
            <a:r>
              <a:rPr lang="en-US" sz="850" dirty="0">
                <a:solidFill>
                  <a:srgbClr val="E8ECF0"/>
                </a:solidFill>
                <a:latin typeface="Arial" pitchFamily="34" charset="0"/>
                <a:ea typeface="Arial" pitchFamily="34" charset="-122"/>
                <a:cs typeface="Arial" pitchFamily="34" charset="-120"/>
              </a:rPr>
              <a:t>● QA Tester</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Security Agent</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Performance Agent</a:t>
            </a:r>
            <a:endParaRPr lang="en-US" sz="850" dirty="0"/>
          </a:p>
        </p:txBody>
      </p:sp>
      <p:sp>
        <p:nvSpPr>
          <p:cNvPr id="22" name="Shape 20"/>
          <p:cNvSpPr/>
          <p:nvPr/>
        </p:nvSpPr>
        <p:spPr>
          <a:xfrm>
            <a:off x="2496312" y="1883664"/>
            <a:ext cx="2148840" cy="969264"/>
          </a:xfrm>
          <a:prstGeom prst="rect">
            <a:avLst/>
          </a:prstGeom>
          <a:solidFill>
            <a:srgbClr val="1C3452"/>
          </a:solidFill>
          <a:ln w="12700">
            <a:solidFill>
              <a:srgbClr val="3D5A80"/>
            </a:solidFill>
            <a:prstDash val="solid"/>
          </a:ln>
        </p:spPr>
      </p:sp>
      <p:sp>
        <p:nvSpPr>
          <p:cNvPr id="23" name="Shape 21"/>
          <p:cNvSpPr/>
          <p:nvPr/>
        </p:nvSpPr>
        <p:spPr>
          <a:xfrm>
            <a:off x="2496312" y="1883664"/>
            <a:ext cx="2148840" cy="256032"/>
          </a:xfrm>
          <a:prstGeom prst="rect">
            <a:avLst/>
          </a:prstGeom>
          <a:solidFill>
            <a:srgbClr val="8B1A1A"/>
          </a:solidFill>
          <a:ln w="12700">
            <a:solidFill>
              <a:srgbClr val="8B1A1A"/>
            </a:solidFill>
            <a:prstDash val="solid"/>
          </a:ln>
        </p:spPr>
      </p:sp>
      <p:sp>
        <p:nvSpPr>
          <p:cNvPr id="24" name="Text 22"/>
          <p:cNvSpPr/>
          <p:nvPr/>
        </p:nvSpPr>
        <p:spPr>
          <a:xfrm>
            <a:off x="2606040" y="1883664"/>
            <a:ext cx="2039112" cy="2560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DEVOPS</a:t>
            </a:r>
            <a:endParaRPr lang="en-US" sz="900" dirty="0"/>
          </a:p>
        </p:txBody>
      </p:sp>
      <p:sp>
        <p:nvSpPr>
          <p:cNvPr id="25" name="Text 23"/>
          <p:cNvSpPr/>
          <p:nvPr/>
        </p:nvSpPr>
        <p:spPr>
          <a:xfrm>
            <a:off x="2606040" y="2176272"/>
            <a:ext cx="1965960" cy="640080"/>
          </a:xfrm>
          <a:prstGeom prst="rect">
            <a:avLst/>
          </a:prstGeom>
          <a:noFill/>
          <a:ln/>
        </p:spPr>
        <p:txBody>
          <a:bodyPr wrap="square" rtlCol="0" anchor="t"/>
          <a:lstStyle/>
          <a:p>
            <a:pPr indent="0" marL="0">
              <a:buNone/>
            </a:pPr>
            <a:r>
              <a:rPr lang="en-US" sz="850" dirty="0">
                <a:solidFill>
                  <a:srgbClr val="E8ECF0"/>
                </a:solidFill>
                <a:latin typeface="Arial" pitchFamily="34" charset="0"/>
                <a:ea typeface="Arial" pitchFamily="34" charset="-122"/>
                <a:cs typeface="Arial" pitchFamily="34" charset="-120"/>
              </a:rPr>
              <a:t>● DevOps</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Jenkins Agent ★</a:t>
            </a:r>
            <a:endParaRPr lang="en-US" sz="850" dirty="0"/>
          </a:p>
        </p:txBody>
      </p:sp>
      <p:sp>
        <p:nvSpPr>
          <p:cNvPr id="26" name="Shape 24"/>
          <p:cNvSpPr/>
          <p:nvPr/>
        </p:nvSpPr>
        <p:spPr>
          <a:xfrm>
            <a:off x="4718304" y="1883664"/>
            <a:ext cx="4151376" cy="969264"/>
          </a:xfrm>
          <a:prstGeom prst="rect">
            <a:avLst/>
          </a:prstGeom>
          <a:solidFill>
            <a:srgbClr val="1C3452"/>
          </a:solidFill>
          <a:ln w="12700">
            <a:solidFill>
              <a:srgbClr val="3D5A80"/>
            </a:solidFill>
            <a:prstDash val="solid"/>
          </a:ln>
        </p:spPr>
      </p:sp>
      <p:sp>
        <p:nvSpPr>
          <p:cNvPr id="27" name="Shape 25"/>
          <p:cNvSpPr/>
          <p:nvPr/>
        </p:nvSpPr>
        <p:spPr>
          <a:xfrm>
            <a:off x="4718304" y="1883664"/>
            <a:ext cx="4151376" cy="256032"/>
          </a:xfrm>
          <a:prstGeom prst="rect">
            <a:avLst/>
          </a:prstGeom>
          <a:solidFill>
            <a:srgbClr val="C84A14"/>
          </a:solidFill>
          <a:ln w="12700">
            <a:solidFill>
              <a:srgbClr val="C84A14"/>
            </a:solidFill>
            <a:prstDash val="solid"/>
          </a:ln>
        </p:spPr>
      </p:sp>
      <p:sp>
        <p:nvSpPr>
          <p:cNvPr id="28" name="Text 26"/>
          <p:cNvSpPr/>
          <p:nvPr/>
        </p:nvSpPr>
        <p:spPr>
          <a:xfrm>
            <a:off x="4828032" y="1883664"/>
            <a:ext cx="4041648" cy="2560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DOCUMENTACIÓN</a:t>
            </a:r>
            <a:endParaRPr lang="en-US" sz="900" dirty="0"/>
          </a:p>
        </p:txBody>
      </p:sp>
      <p:sp>
        <p:nvSpPr>
          <p:cNvPr id="29" name="Text 27"/>
          <p:cNvSpPr/>
          <p:nvPr/>
        </p:nvSpPr>
        <p:spPr>
          <a:xfrm>
            <a:off x="4828032" y="2176272"/>
            <a:ext cx="3968496" cy="640080"/>
          </a:xfrm>
          <a:prstGeom prst="rect">
            <a:avLst/>
          </a:prstGeom>
          <a:noFill/>
          <a:ln/>
        </p:spPr>
        <p:txBody>
          <a:bodyPr wrap="square" rtlCol="0" anchor="t"/>
          <a:lstStyle/>
          <a:p>
            <a:pPr indent="0" marL="0">
              <a:buNone/>
            </a:pPr>
            <a:r>
              <a:rPr lang="en-US" sz="850" dirty="0">
                <a:solidFill>
                  <a:srgbClr val="E8ECF0"/>
                </a:solidFill>
                <a:latin typeface="Arial" pitchFamily="34" charset="0"/>
                <a:ea typeface="Arial" pitchFamily="34" charset="-122"/>
                <a:cs typeface="Arial" pitchFamily="34" charset="-120"/>
              </a:rPr>
              <a:t>● Doc Agent</a:t>
            </a:r>
            <a:endParaRPr lang="en-US" sz="850" dirty="0"/>
          </a:p>
          <a:p>
            <a:pPr indent="0" marL="0">
              <a:buNone/>
            </a:pPr>
            <a:r>
              <a:rPr lang="en-US" sz="850" dirty="0">
                <a:solidFill>
                  <a:srgbClr val="E8ECF0"/>
                </a:solidFill>
                <a:latin typeface="Arial" pitchFamily="34" charset="0"/>
                <a:ea typeface="Arial" pitchFamily="34" charset="-122"/>
                <a:cs typeface="Arial" pitchFamily="34" charset="-120"/>
              </a:rPr>
              <a:t>● Atlassian Agent ★</a:t>
            </a:r>
            <a:endParaRPr lang="en-US" sz="850" dirty="0"/>
          </a:p>
        </p:txBody>
      </p:sp>
      <p:sp>
        <p:nvSpPr>
          <p:cNvPr id="30" name="Shape 28"/>
          <p:cNvSpPr/>
          <p:nvPr/>
        </p:nvSpPr>
        <p:spPr>
          <a:xfrm>
            <a:off x="274320" y="4069080"/>
            <a:ext cx="8595360" cy="320040"/>
          </a:xfrm>
          <a:prstGeom prst="rect">
            <a:avLst/>
          </a:prstGeom>
          <a:solidFill>
            <a:srgbClr val="1C3452"/>
          </a:solidFill>
          <a:ln w="12700">
            <a:solidFill>
              <a:srgbClr val="3D5A80"/>
            </a:solidFill>
            <a:prstDash val="solid"/>
          </a:ln>
        </p:spPr>
      </p:sp>
      <p:sp>
        <p:nvSpPr>
          <p:cNvPr id="31" name="Text 29"/>
          <p:cNvSpPr/>
          <p:nvPr/>
        </p:nvSpPr>
        <p:spPr>
          <a:xfrm>
            <a:off x="411480" y="4069080"/>
            <a:ext cx="8321040" cy="320040"/>
          </a:xfrm>
          <a:prstGeom prst="rect">
            <a:avLst/>
          </a:prstGeom>
          <a:noFill/>
          <a:ln/>
        </p:spPr>
        <p:txBody>
          <a:bodyPr wrap="square" rtlCol="0" anchor="ctr"/>
          <a:lstStyle/>
          <a:p>
            <a:pPr indent="0" marL="0">
              <a:buNone/>
            </a:pPr>
            <a:r>
              <a:rPr lang="en-US" sz="900" dirty="0">
                <a:solidFill>
                  <a:srgbClr val="C84A14"/>
                </a:solidFill>
                <a:latin typeface="Arial" pitchFamily="34" charset="0"/>
                <a:ea typeface="Arial" pitchFamily="34" charset="-122"/>
                <a:cs typeface="Arial" pitchFamily="34" charset="-120"/>
              </a:rPr>
              <a:t>★ Agentes nuevos en SOFIA v2.0+: FA Agent (Analista Funcional bancario) · Jenkins Agent (CI/CD) · Atlassian Agent (Jira + Confluence sync automático)</a:t>
            </a:r>
            <a:endParaRPr lang="en-US" sz="900" dirty="0"/>
          </a:p>
        </p:txBody>
      </p:sp>
      <p:sp>
        <p:nvSpPr>
          <p:cNvPr id="32" name="Shape 30"/>
          <p:cNvSpPr/>
          <p:nvPr/>
        </p:nvSpPr>
        <p:spPr>
          <a:xfrm>
            <a:off x="6949440" y="2889504"/>
            <a:ext cx="1920240" cy="1097280"/>
          </a:xfrm>
          <a:prstGeom prst="rect">
            <a:avLst/>
          </a:prstGeom>
          <a:solidFill>
            <a:srgbClr val="1C3452"/>
          </a:solidFill>
          <a:ln w="25400">
            <a:solidFill>
              <a:srgbClr val="C84A14"/>
            </a:solidFill>
            <a:prstDash val="solid"/>
          </a:ln>
        </p:spPr>
      </p:sp>
      <p:sp>
        <p:nvSpPr>
          <p:cNvPr id="33" name="Text 31"/>
          <p:cNvSpPr/>
          <p:nvPr/>
        </p:nvSpPr>
        <p:spPr>
          <a:xfrm>
            <a:off x="6949440" y="2980944"/>
            <a:ext cx="1920240" cy="548640"/>
          </a:xfrm>
          <a:prstGeom prst="rect">
            <a:avLst/>
          </a:prstGeom>
          <a:noFill/>
          <a:ln/>
        </p:spPr>
        <p:txBody>
          <a:bodyPr wrap="square" rtlCol="0" anchor="ctr"/>
          <a:lstStyle/>
          <a:p>
            <a:pPr algn="ctr" indent="0" marL="0">
              <a:buNone/>
            </a:pPr>
            <a:r>
              <a:rPr lang="en-US" sz="4800" b="1" dirty="0">
                <a:solidFill>
                  <a:srgbClr val="C84A14"/>
                </a:solidFill>
                <a:latin typeface="Arial Black" pitchFamily="34" charset="0"/>
                <a:ea typeface="Arial Black" pitchFamily="34" charset="-122"/>
                <a:cs typeface="Arial Black" pitchFamily="34" charset="-120"/>
              </a:rPr>
              <a:t>20</a:t>
            </a:r>
            <a:endParaRPr lang="en-US" sz="4800" dirty="0"/>
          </a:p>
        </p:txBody>
      </p:sp>
      <p:sp>
        <p:nvSpPr>
          <p:cNvPr id="34" name="Text 32"/>
          <p:cNvSpPr/>
          <p:nvPr/>
        </p:nvSpPr>
        <p:spPr>
          <a:xfrm>
            <a:off x="6949440" y="3547872"/>
            <a:ext cx="1920240" cy="365760"/>
          </a:xfrm>
          <a:prstGeom prst="rect">
            <a:avLst/>
          </a:prstGeom>
          <a:noFill/>
          <a:ln/>
        </p:spPr>
        <p:txBody>
          <a:bodyPr wrap="square" rtlCol="0" anchor="ctr"/>
          <a:lstStyle/>
          <a:p>
            <a:pPr algn="ctr" indent="0" marL="0">
              <a:buNone/>
            </a:pPr>
            <a:r>
              <a:rPr lang="en-US" sz="950" dirty="0">
                <a:solidFill>
                  <a:srgbClr val="E8ECF0"/>
                </a:solidFill>
                <a:latin typeface="Arial" pitchFamily="34" charset="0"/>
                <a:ea typeface="Arial" pitchFamily="34" charset="-122"/>
                <a:cs typeface="Arial" pitchFamily="34" charset="-120"/>
              </a:rPr>
              <a:t>agentes</a:t>
            </a:r>
            <a:endParaRPr lang="en-US" sz="950" dirty="0"/>
          </a:p>
          <a:p>
            <a:pPr algn="ctr" indent="0" marL="0">
              <a:buNone/>
            </a:pPr>
            <a:r>
              <a:rPr lang="en-US" sz="950" dirty="0">
                <a:solidFill>
                  <a:srgbClr val="E8ECF0"/>
                </a:solidFill>
                <a:latin typeface="Arial" pitchFamily="34" charset="0"/>
                <a:ea typeface="Arial" pitchFamily="34" charset="-122"/>
                <a:cs typeface="Arial" pitchFamily="34" charset="-120"/>
              </a:rPr>
              <a:t>totales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62E54"/>
          </a:solidFill>
          <a:ln w="12700">
            <a:solidFill>
              <a:srgbClr val="162E54"/>
            </a:solidFill>
            <a:prstDash val="solid"/>
          </a:ln>
        </p:spPr>
      </p:sp>
      <p:sp>
        <p:nvSpPr>
          <p:cNvPr id="3" name="Shape 1"/>
          <p:cNvSpPr/>
          <p:nvPr/>
        </p:nvSpPr>
        <p:spPr>
          <a:xfrm>
            <a:off x="0" y="0"/>
            <a:ext cx="9144000" cy="64008"/>
          </a:xfrm>
          <a:prstGeom prst="rect">
            <a:avLst/>
          </a:prstGeom>
          <a:solidFill>
            <a:srgbClr val="C84A14"/>
          </a:solidFill>
          <a:ln w="12700">
            <a:solidFill>
              <a:srgbClr val="C84A14"/>
            </a:solidFill>
            <a:prstDash val="solid"/>
          </a:ln>
        </p:spPr>
      </p:sp>
      <p:sp>
        <p:nvSpPr>
          <p:cNvPr id="4" name="Text 2"/>
          <p:cNvSpPr/>
          <p:nvPr/>
        </p:nvSpPr>
        <p:spPr>
          <a:xfrm>
            <a:off x="457200" y="914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FA Agent — Analista Funcional bancario especializado (nuevo en v2.0)</a:t>
            </a:r>
            <a:endParaRPr lang="en-US" sz="2200" dirty="0"/>
          </a:p>
        </p:txBody>
      </p:sp>
      <p:sp>
        <p:nvSpPr>
          <p:cNvPr id="5" name="Text 3"/>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6" name="Text 4"/>
          <p:cNvSpPr/>
          <p:nvPr/>
        </p:nvSpPr>
        <p:spPr>
          <a:xfrm>
            <a:off x="365760" y="658368"/>
            <a:ext cx="8412480" cy="438912"/>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El FA Agent es el primer agente de SOFIA con conocimiento regulatorio bancario profundo. Genera y mantiene el documento funcional vivo acumulativo sprint a sprint.</a:t>
            </a:r>
            <a:endParaRPr lang="en-US" sz="1100" dirty="0"/>
          </a:p>
        </p:txBody>
      </p:sp>
      <p:sp>
        <p:nvSpPr>
          <p:cNvPr id="7" name="Shape 5"/>
          <p:cNvSpPr/>
          <p:nvPr/>
        </p:nvSpPr>
        <p:spPr>
          <a:xfrm>
            <a:off x="274320" y="1170432"/>
            <a:ext cx="2724912" cy="3182112"/>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74320" y="1170432"/>
            <a:ext cx="2724912" cy="292608"/>
          </a:xfrm>
          <a:prstGeom prst="rect">
            <a:avLst/>
          </a:prstGeom>
          <a:solidFill>
            <a:srgbClr val="1B3A6B"/>
          </a:solidFill>
          <a:ln w="12700">
            <a:solidFill>
              <a:srgbClr val="1B3A6B"/>
            </a:solidFill>
            <a:prstDash val="solid"/>
          </a:ln>
        </p:spPr>
      </p:sp>
      <p:sp>
        <p:nvSpPr>
          <p:cNvPr id="9" name="Text 7"/>
          <p:cNvSpPr/>
          <p:nvPr/>
        </p:nvSpPr>
        <p:spPr>
          <a:xfrm>
            <a:off x="365760" y="1170432"/>
            <a:ext cx="2560320" cy="292608"/>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Banca Retail</a:t>
            </a:r>
            <a:endParaRPr lang="en-US" sz="1000" dirty="0"/>
          </a:p>
        </p:txBody>
      </p:sp>
      <p:sp>
        <p:nvSpPr>
          <p:cNvPr id="10" name="Text 8"/>
          <p:cNvSpPr/>
          <p:nvPr/>
        </p:nvSpPr>
        <p:spPr>
          <a:xfrm>
            <a:off x="384048" y="15361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Cuentas · Tarjetas · Hipotecas</a:t>
            </a:r>
            <a:endParaRPr lang="en-US" sz="950" dirty="0"/>
          </a:p>
        </p:txBody>
      </p:sp>
      <p:sp>
        <p:nvSpPr>
          <p:cNvPr id="11" name="Text 9"/>
          <p:cNvSpPr/>
          <p:nvPr/>
        </p:nvSpPr>
        <p:spPr>
          <a:xfrm>
            <a:off x="384048" y="19933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SEPA SCT / SDD / Instant</a:t>
            </a:r>
            <a:endParaRPr lang="en-US" sz="950" dirty="0"/>
          </a:p>
        </p:txBody>
      </p:sp>
      <p:sp>
        <p:nvSpPr>
          <p:cNvPr id="12" name="Text 10"/>
          <p:cNvSpPr/>
          <p:nvPr/>
        </p:nvSpPr>
        <p:spPr>
          <a:xfrm>
            <a:off x="384048" y="24505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PSD2 SCA · PCI DSS v4</a:t>
            </a:r>
            <a:endParaRPr lang="en-US" sz="950" dirty="0"/>
          </a:p>
        </p:txBody>
      </p:sp>
      <p:sp>
        <p:nvSpPr>
          <p:cNvPr id="13" name="Text 11"/>
          <p:cNvSpPr/>
          <p:nvPr/>
        </p:nvSpPr>
        <p:spPr>
          <a:xfrm>
            <a:off x="384048" y="29077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Bizum · Notificaciones Push</a:t>
            </a:r>
            <a:endParaRPr lang="en-US" sz="950" dirty="0"/>
          </a:p>
        </p:txBody>
      </p:sp>
      <p:sp>
        <p:nvSpPr>
          <p:cNvPr id="14" name="Text 12"/>
          <p:cNvSpPr/>
          <p:nvPr/>
        </p:nvSpPr>
        <p:spPr>
          <a:xfrm>
            <a:off x="384048" y="33649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GDPR · Domiciliaciones SEPA</a:t>
            </a:r>
            <a:endParaRPr lang="en-US" sz="950" dirty="0"/>
          </a:p>
        </p:txBody>
      </p:sp>
      <p:sp>
        <p:nvSpPr>
          <p:cNvPr id="15" name="Shape 13"/>
          <p:cNvSpPr/>
          <p:nvPr/>
        </p:nvSpPr>
        <p:spPr>
          <a:xfrm>
            <a:off x="3182112" y="1170432"/>
            <a:ext cx="2724912" cy="3182112"/>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3182112" y="1170432"/>
            <a:ext cx="2724912" cy="292608"/>
          </a:xfrm>
          <a:prstGeom prst="rect">
            <a:avLst/>
          </a:prstGeom>
          <a:solidFill>
            <a:srgbClr val="2F6B61"/>
          </a:solidFill>
          <a:ln w="12700">
            <a:solidFill>
              <a:srgbClr val="2F6B61"/>
            </a:solidFill>
            <a:prstDash val="solid"/>
          </a:ln>
        </p:spPr>
      </p:sp>
      <p:sp>
        <p:nvSpPr>
          <p:cNvPr id="17" name="Text 15"/>
          <p:cNvSpPr/>
          <p:nvPr/>
        </p:nvSpPr>
        <p:spPr>
          <a:xfrm>
            <a:off x="3273552" y="1170432"/>
            <a:ext cx="2560320" cy="292608"/>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Banca Minorista (PYME)</a:t>
            </a:r>
            <a:endParaRPr lang="en-US" sz="1000" dirty="0"/>
          </a:p>
        </p:txBody>
      </p:sp>
      <p:sp>
        <p:nvSpPr>
          <p:cNvPr id="18" name="Text 16"/>
          <p:cNvSpPr/>
          <p:nvPr/>
        </p:nvSpPr>
        <p:spPr>
          <a:xfrm>
            <a:off x="3291840" y="15361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Líneas de crédito · Factoring</a:t>
            </a:r>
            <a:endParaRPr lang="en-US" sz="950" dirty="0"/>
          </a:p>
        </p:txBody>
      </p:sp>
      <p:sp>
        <p:nvSpPr>
          <p:cNvPr id="19" name="Text 17"/>
          <p:cNvSpPr/>
          <p:nvPr/>
        </p:nvSpPr>
        <p:spPr>
          <a:xfrm>
            <a:off x="3291840" y="19933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Confirming · Descuento comercial</a:t>
            </a:r>
            <a:endParaRPr lang="en-US" sz="950" dirty="0"/>
          </a:p>
        </p:txBody>
      </p:sp>
      <p:sp>
        <p:nvSpPr>
          <p:cNvPr id="20" name="Text 18"/>
          <p:cNvSpPr/>
          <p:nvPr/>
        </p:nvSpPr>
        <p:spPr>
          <a:xfrm>
            <a:off x="3291840" y="24505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TPV físico y virtual</a:t>
            </a:r>
            <a:endParaRPr lang="en-US" sz="950" dirty="0"/>
          </a:p>
        </p:txBody>
      </p:sp>
      <p:sp>
        <p:nvSpPr>
          <p:cNvPr id="21" name="Text 19"/>
          <p:cNvSpPr/>
          <p:nvPr/>
        </p:nvSpPr>
        <p:spPr>
          <a:xfrm>
            <a:off x="3291840" y="29077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PSD2 Art.77/80 derechos deudor</a:t>
            </a:r>
            <a:endParaRPr lang="en-US" sz="950" dirty="0"/>
          </a:p>
        </p:txBody>
      </p:sp>
      <p:sp>
        <p:nvSpPr>
          <p:cNvPr id="22" name="Text 20"/>
          <p:cNvSpPr/>
          <p:nvPr/>
        </p:nvSpPr>
        <p:spPr>
          <a:xfrm>
            <a:off x="3291840" y="33649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Factura electrónica · ICO/BEI</a:t>
            </a:r>
            <a:endParaRPr lang="en-US" sz="950" dirty="0"/>
          </a:p>
        </p:txBody>
      </p:sp>
      <p:sp>
        <p:nvSpPr>
          <p:cNvPr id="23" name="Shape 21"/>
          <p:cNvSpPr/>
          <p:nvPr/>
        </p:nvSpPr>
        <p:spPr>
          <a:xfrm>
            <a:off x="6089904" y="1170432"/>
            <a:ext cx="2724912" cy="3182112"/>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6089904" y="1170432"/>
            <a:ext cx="2724912" cy="292608"/>
          </a:xfrm>
          <a:prstGeom prst="rect">
            <a:avLst/>
          </a:prstGeom>
          <a:solidFill>
            <a:srgbClr val="3D5A80"/>
          </a:solidFill>
          <a:ln w="12700">
            <a:solidFill>
              <a:srgbClr val="3D5A80"/>
            </a:solidFill>
            <a:prstDash val="solid"/>
          </a:ln>
        </p:spPr>
      </p:sp>
      <p:sp>
        <p:nvSpPr>
          <p:cNvPr id="25" name="Text 23"/>
          <p:cNvSpPr/>
          <p:nvPr/>
        </p:nvSpPr>
        <p:spPr>
          <a:xfrm>
            <a:off x="6181344" y="1170432"/>
            <a:ext cx="2560320" cy="292608"/>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 Banca Mayorista</a:t>
            </a:r>
            <a:endParaRPr lang="en-US" sz="1000" dirty="0"/>
          </a:p>
        </p:txBody>
      </p:sp>
      <p:sp>
        <p:nvSpPr>
          <p:cNvPr id="26" name="Text 24"/>
          <p:cNvSpPr/>
          <p:nvPr/>
        </p:nvSpPr>
        <p:spPr>
          <a:xfrm>
            <a:off x="6199632" y="15361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Cash Management · Cash Pooling</a:t>
            </a:r>
            <a:endParaRPr lang="en-US" sz="950" dirty="0"/>
          </a:p>
        </p:txBody>
      </p:sp>
      <p:sp>
        <p:nvSpPr>
          <p:cNvPr id="27" name="Text 25"/>
          <p:cNvSpPr/>
          <p:nvPr/>
        </p:nvSpPr>
        <p:spPr>
          <a:xfrm>
            <a:off x="6199632" y="19933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Trade Finance · L/C SBLC</a:t>
            </a:r>
            <a:endParaRPr lang="en-US" sz="950" dirty="0"/>
          </a:p>
        </p:txBody>
      </p:sp>
      <p:sp>
        <p:nvSpPr>
          <p:cNvPr id="28" name="Text 26"/>
          <p:cNvSpPr/>
          <p:nvPr/>
        </p:nvSpPr>
        <p:spPr>
          <a:xfrm>
            <a:off x="6199632" y="24505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SWIFT gpi · ISO 20022 MX</a:t>
            </a:r>
            <a:endParaRPr lang="en-US" sz="950" dirty="0"/>
          </a:p>
        </p:txBody>
      </p:sp>
      <p:sp>
        <p:nvSpPr>
          <p:cNvPr id="29" name="Text 27"/>
          <p:cNvSpPr/>
          <p:nvPr/>
        </p:nvSpPr>
        <p:spPr>
          <a:xfrm>
            <a:off x="6199632" y="29077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Derivados IRS/FX · EMIR reporting</a:t>
            </a:r>
            <a:endParaRPr lang="en-US" sz="950" dirty="0"/>
          </a:p>
        </p:txBody>
      </p:sp>
      <p:sp>
        <p:nvSpPr>
          <p:cNvPr id="30" name="Text 28"/>
          <p:cNvSpPr/>
          <p:nvPr/>
        </p:nvSpPr>
        <p:spPr>
          <a:xfrm>
            <a:off x="6199632" y="3364992"/>
            <a:ext cx="2505456" cy="402336"/>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Basilea III · LCR · NSFR</a:t>
            </a:r>
            <a:endParaRPr lang="en-US" sz="950" dirty="0"/>
          </a:p>
        </p:txBody>
      </p:sp>
      <p:sp>
        <p:nvSpPr>
          <p:cNvPr id="31" name="Shape 29"/>
          <p:cNvSpPr/>
          <p:nvPr/>
        </p:nvSpPr>
        <p:spPr>
          <a:xfrm>
            <a:off x="274320" y="4434840"/>
            <a:ext cx="1965960" cy="566928"/>
          </a:xfrm>
          <a:prstGeom prst="rect">
            <a:avLst/>
          </a:prstGeom>
          <a:solidFill>
            <a:srgbClr val="C84A14"/>
          </a:solidFill>
          <a:ln w="12700">
            <a:solidFill>
              <a:srgbClr val="C84A14"/>
            </a:solidFill>
            <a:prstDash val="solid"/>
          </a:ln>
        </p:spPr>
      </p:sp>
      <p:sp>
        <p:nvSpPr>
          <p:cNvPr id="32" name="Text 30"/>
          <p:cNvSpPr/>
          <p:nvPr/>
        </p:nvSpPr>
        <p:spPr>
          <a:xfrm>
            <a:off x="274320" y="4434840"/>
            <a:ext cx="594360" cy="566928"/>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52</a:t>
            </a:r>
            <a:endParaRPr lang="en-US" sz="2200" dirty="0"/>
          </a:p>
        </p:txBody>
      </p:sp>
      <p:sp>
        <p:nvSpPr>
          <p:cNvPr id="33" name="Text 31"/>
          <p:cNvSpPr/>
          <p:nvPr/>
        </p:nvSpPr>
        <p:spPr>
          <a:xfrm>
            <a:off x="868680" y="4434840"/>
            <a:ext cx="1371600" cy="566928"/>
          </a:xfrm>
          <a:prstGeom prst="rect">
            <a:avLst/>
          </a:prstGeom>
          <a:noFill/>
          <a:ln/>
        </p:spPr>
        <p:txBody>
          <a:bodyPr wrap="square" rtlCol="0" anchor="ctr"/>
          <a:lstStyle/>
          <a:p>
            <a:pPr algn="l" indent="0" marL="0">
              <a:buNone/>
            </a:pPr>
            <a:r>
              <a:rPr lang="en-US" sz="850" dirty="0">
                <a:solidFill>
                  <a:srgbClr val="FFFFFF"/>
                </a:solidFill>
                <a:latin typeface="Arial" pitchFamily="34" charset="0"/>
                <a:ea typeface="Arial" pitchFamily="34" charset="-122"/>
                <a:cs typeface="Arial" pitchFamily="34" charset="-120"/>
              </a:rPr>
              <a:t>Funcionalidades</a:t>
            </a:r>
            <a:endParaRPr lang="en-US" sz="850" dirty="0"/>
          </a:p>
          <a:p>
            <a:pPr algn="l" indent="0" marL="0">
              <a:buNone/>
            </a:pPr>
            <a:r>
              <a:rPr lang="en-US" sz="850" dirty="0">
                <a:solidFill>
                  <a:srgbClr val="FFFFFF"/>
                </a:solidFill>
                <a:latin typeface="Arial" pitchFamily="34" charset="0"/>
                <a:ea typeface="Arial" pitchFamily="34" charset="-122"/>
                <a:cs typeface="Arial" pitchFamily="34" charset="-120"/>
              </a:rPr>
              <a:t>documentadas</a:t>
            </a:r>
            <a:endParaRPr lang="en-US" sz="850" dirty="0"/>
          </a:p>
        </p:txBody>
      </p:sp>
      <p:sp>
        <p:nvSpPr>
          <p:cNvPr id="34" name="Shape 32"/>
          <p:cNvSpPr/>
          <p:nvPr/>
        </p:nvSpPr>
        <p:spPr>
          <a:xfrm>
            <a:off x="2450592" y="4434840"/>
            <a:ext cx="1965960" cy="566928"/>
          </a:xfrm>
          <a:prstGeom prst="rect">
            <a:avLst/>
          </a:prstGeom>
          <a:solidFill>
            <a:srgbClr val="2F6B61"/>
          </a:solidFill>
          <a:ln w="12700">
            <a:solidFill>
              <a:srgbClr val="2F6B61"/>
            </a:solidFill>
            <a:prstDash val="solid"/>
          </a:ln>
        </p:spPr>
      </p:sp>
      <p:sp>
        <p:nvSpPr>
          <p:cNvPr id="35" name="Text 33"/>
          <p:cNvSpPr/>
          <p:nvPr/>
        </p:nvSpPr>
        <p:spPr>
          <a:xfrm>
            <a:off x="2450592" y="4434840"/>
            <a:ext cx="594360" cy="566928"/>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86</a:t>
            </a:r>
            <a:endParaRPr lang="en-US" sz="2200" dirty="0"/>
          </a:p>
        </p:txBody>
      </p:sp>
      <p:sp>
        <p:nvSpPr>
          <p:cNvPr id="36" name="Text 34"/>
          <p:cNvSpPr/>
          <p:nvPr/>
        </p:nvSpPr>
        <p:spPr>
          <a:xfrm>
            <a:off x="3044952" y="4434840"/>
            <a:ext cx="1371600" cy="566928"/>
          </a:xfrm>
          <a:prstGeom prst="rect">
            <a:avLst/>
          </a:prstGeom>
          <a:noFill/>
          <a:ln/>
        </p:spPr>
        <p:txBody>
          <a:bodyPr wrap="square" rtlCol="0" anchor="ctr"/>
          <a:lstStyle/>
          <a:p>
            <a:pPr algn="l" indent="0" marL="0">
              <a:buNone/>
            </a:pPr>
            <a:r>
              <a:rPr lang="en-US" sz="850" dirty="0">
                <a:solidFill>
                  <a:srgbClr val="FFFFFF"/>
                </a:solidFill>
                <a:latin typeface="Arial" pitchFamily="34" charset="0"/>
                <a:ea typeface="Arial" pitchFamily="34" charset="-122"/>
                <a:cs typeface="Arial" pitchFamily="34" charset="-120"/>
              </a:rPr>
              <a:t>Reglas de</a:t>
            </a:r>
            <a:endParaRPr lang="en-US" sz="850" dirty="0"/>
          </a:p>
          <a:p>
            <a:pPr algn="l" indent="0" marL="0">
              <a:buNone/>
            </a:pPr>
            <a:r>
              <a:rPr lang="en-US" sz="850" dirty="0">
                <a:solidFill>
                  <a:srgbClr val="FFFFFF"/>
                </a:solidFill>
                <a:latin typeface="Arial" pitchFamily="34" charset="0"/>
                <a:ea typeface="Arial" pitchFamily="34" charset="-122"/>
                <a:cs typeface="Arial" pitchFamily="34" charset="-120"/>
              </a:rPr>
              <a:t>negocio</a:t>
            </a:r>
            <a:endParaRPr lang="en-US" sz="850" dirty="0"/>
          </a:p>
        </p:txBody>
      </p:sp>
      <p:sp>
        <p:nvSpPr>
          <p:cNvPr id="37" name="Shape 35"/>
          <p:cNvSpPr/>
          <p:nvPr/>
        </p:nvSpPr>
        <p:spPr>
          <a:xfrm>
            <a:off x="4626864" y="4434840"/>
            <a:ext cx="1965960" cy="566928"/>
          </a:xfrm>
          <a:prstGeom prst="rect">
            <a:avLst/>
          </a:prstGeom>
          <a:solidFill>
            <a:srgbClr val="3D5A80"/>
          </a:solidFill>
          <a:ln w="12700">
            <a:solidFill>
              <a:srgbClr val="3D5A80"/>
            </a:solidFill>
            <a:prstDash val="solid"/>
          </a:ln>
        </p:spPr>
      </p:sp>
      <p:sp>
        <p:nvSpPr>
          <p:cNvPr id="38" name="Text 36"/>
          <p:cNvSpPr/>
          <p:nvPr/>
        </p:nvSpPr>
        <p:spPr>
          <a:xfrm>
            <a:off x="4626864" y="4434840"/>
            <a:ext cx="594360" cy="566928"/>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14</a:t>
            </a:r>
            <a:endParaRPr lang="en-US" sz="2200" dirty="0"/>
          </a:p>
        </p:txBody>
      </p:sp>
      <p:sp>
        <p:nvSpPr>
          <p:cNvPr id="39" name="Text 37"/>
          <p:cNvSpPr/>
          <p:nvPr/>
        </p:nvSpPr>
        <p:spPr>
          <a:xfrm>
            <a:off x="5221224" y="4434840"/>
            <a:ext cx="1371600" cy="566928"/>
          </a:xfrm>
          <a:prstGeom prst="rect">
            <a:avLst/>
          </a:prstGeom>
          <a:noFill/>
          <a:ln/>
        </p:spPr>
        <p:txBody>
          <a:bodyPr wrap="square" rtlCol="0" anchor="ctr"/>
          <a:lstStyle/>
          <a:p>
            <a:pPr algn="l" indent="0" marL="0">
              <a:buNone/>
            </a:pPr>
            <a:r>
              <a:rPr lang="en-US" sz="850" dirty="0">
                <a:solidFill>
                  <a:srgbClr val="FFFFFF"/>
                </a:solidFill>
                <a:latin typeface="Arial" pitchFamily="34" charset="0"/>
                <a:ea typeface="Arial" pitchFamily="34" charset="-122"/>
                <a:cs typeface="Arial" pitchFamily="34" charset="-120"/>
              </a:rPr>
              <a:t>Módulos</a:t>
            </a:r>
            <a:endParaRPr lang="en-US" sz="850" dirty="0"/>
          </a:p>
          <a:p>
            <a:pPr algn="l" indent="0" marL="0">
              <a:buNone/>
            </a:pPr>
            <a:r>
              <a:rPr lang="en-US" sz="850" dirty="0">
                <a:solidFill>
                  <a:srgbClr val="FFFFFF"/>
                </a:solidFill>
                <a:latin typeface="Arial" pitchFamily="34" charset="0"/>
                <a:ea typeface="Arial" pitchFamily="34" charset="-122"/>
                <a:cs typeface="Arial" pitchFamily="34" charset="-120"/>
              </a:rPr>
              <a:t>bancarios</a:t>
            </a:r>
            <a:endParaRPr lang="en-US" sz="850" dirty="0"/>
          </a:p>
        </p:txBody>
      </p:sp>
      <p:sp>
        <p:nvSpPr>
          <p:cNvPr id="40" name="Shape 38"/>
          <p:cNvSpPr/>
          <p:nvPr/>
        </p:nvSpPr>
        <p:spPr>
          <a:xfrm>
            <a:off x="6803136" y="4434840"/>
            <a:ext cx="1965960" cy="566928"/>
          </a:xfrm>
          <a:prstGeom prst="rect">
            <a:avLst/>
          </a:prstGeom>
          <a:solidFill>
            <a:srgbClr val="1B3A6B"/>
          </a:solidFill>
          <a:ln w="12700">
            <a:solidFill>
              <a:srgbClr val="1B3A6B"/>
            </a:solidFill>
            <a:prstDash val="solid"/>
          </a:ln>
        </p:spPr>
      </p:sp>
      <p:sp>
        <p:nvSpPr>
          <p:cNvPr id="41" name="Text 39"/>
          <p:cNvSpPr/>
          <p:nvPr/>
        </p:nvSpPr>
        <p:spPr>
          <a:xfrm>
            <a:off x="6803136" y="4434840"/>
            <a:ext cx="594360" cy="566928"/>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16</a:t>
            </a:r>
            <a:endParaRPr lang="en-US" sz="2200" dirty="0"/>
          </a:p>
        </p:txBody>
      </p:sp>
      <p:sp>
        <p:nvSpPr>
          <p:cNvPr id="42" name="Text 40"/>
          <p:cNvSpPr/>
          <p:nvPr/>
        </p:nvSpPr>
        <p:spPr>
          <a:xfrm>
            <a:off x="7397496" y="4434840"/>
            <a:ext cx="1371600" cy="566928"/>
          </a:xfrm>
          <a:prstGeom prst="rect">
            <a:avLst/>
          </a:prstGeom>
          <a:noFill/>
          <a:ln/>
        </p:spPr>
        <p:txBody>
          <a:bodyPr wrap="square" rtlCol="0" anchor="ctr"/>
          <a:lstStyle/>
          <a:p>
            <a:pPr algn="l" indent="0" marL="0">
              <a:buNone/>
            </a:pPr>
            <a:r>
              <a:rPr lang="en-US" sz="850" dirty="0">
                <a:solidFill>
                  <a:srgbClr val="FFFFFF"/>
                </a:solidFill>
                <a:latin typeface="Arial" pitchFamily="34" charset="0"/>
                <a:ea typeface="Arial" pitchFamily="34" charset="-122"/>
                <a:cs typeface="Arial" pitchFamily="34" charset="-120"/>
              </a:rPr>
              <a:t>Sprints</a:t>
            </a:r>
            <a:endParaRPr lang="en-US" sz="850" dirty="0"/>
          </a:p>
          <a:p>
            <a:pPr algn="l" indent="0" marL="0">
              <a:buNone/>
            </a:pPr>
            <a:r>
              <a:rPr lang="en-US" sz="850" dirty="0">
                <a:solidFill>
                  <a:srgbClr val="FFFFFF"/>
                </a:solidFill>
                <a:latin typeface="Arial" pitchFamily="34" charset="0"/>
                <a:ea typeface="Arial" pitchFamily="34" charset="-122"/>
                <a:cs typeface="Arial" pitchFamily="34" charset="-120"/>
              </a:rPr>
              <a:t>consolidados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62E54"/>
          </a:solidFill>
          <a:ln w="12700">
            <a:solidFill>
              <a:srgbClr val="162E54"/>
            </a:solidFill>
            <a:prstDash val="solid"/>
          </a:ln>
        </p:spPr>
      </p:sp>
      <p:sp>
        <p:nvSpPr>
          <p:cNvPr id="3" name="Shape 1"/>
          <p:cNvSpPr/>
          <p:nvPr/>
        </p:nvSpPr>
        <p:spPr>
          <a:xfrm>
            <a:off x="0" y="0"/>
            <a:ext cx="9144000" cy="64008"/>
          </a:xfrm>
          <a:prstGeom prst="rect">
            <a:avLst/>
          </a:prstGeom>
          <a:solidFill>
            <a:srgbClr val="C84A14"/>
          </a:solidFill>
          <a:ln w="12700">
            <a:solidFill>
              <a:srgbClr val="C84A14"/>
            </a:solidFill>
            <a:prstDash val="solid"/>
          </a:ln>
        </p:spPr>
      </p:sp>
      <p:sp>
        <p:nvSpPr>
          <p:cNvPr id="4" name="Text 2"/>
          <p:cNvSpPr/>
          <p:nvPr/>
        </p:nvSpPr>
        <p:spPr>
          <a:xfrm>
            <a:off x="457200" y="914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Resultados reales: BankPortal en producción</a:t>
            </a:r>
            <a:endParaRPr lang="en-US" sz="2200" dirty="0"/>
          </a:p>
        </p:txBody>
      </p:sp>
      <p:sp>
        <p:nvSpPr>
          <p:cNvPr id="5" name="Text 3"/>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6" name="Text 4"/>
          <p:cNvSpPr/>
          <p:nvPr/>
        </p:nvSpPr>
        <p:spPr>
          <a:xfrm>
            <a:off x="365760" y="640080"/>
            <a:ext cx="8412480" cy="228600"/>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18 sprints completados · 24 SP/sprint · CMMI Nivel 3 verificado · v1.18.0 · Banco Meridian</a:t>
            </a:r>
            <a:endParaRPr lang="en-US" sz="1000" dirty="0"/>
          </a:p>
        </p:txBody>
      </p:sp>
      <p:sp>
        <p:nvSpPr>
          <p:cNvPr id="7" name="Shape 5"/>
          <p:cNvSpPr/>
          <p:nvPr/>
        </p:nvSpPr>
        <p:spPr>
          <a:xfrm>
            <a:off x="256032" y="932688"/>
            <a:ext cx="1572768" cy="1298448"/>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56032" y="932688"/>
            <a:ext cx="1572768" cy="54864"/>
          </a:xfrm>
          <a:prstGeom prst="rect">
            <a:avLst/>
          </a:prstGeom>
          <a:solidFill>
            <a:srgbClr val="1B3A6B"/>
          </a:solidFill>
          <a:ln w="12700">
            <a:solidFill>
              <a:srgbClr val="1B3A6B"/>
            </a:solidFill>
            <a:prstDash val="solid"/>
          </a:ln>
        </p:spPr>
      </p:sp>
      <p:sp>
        <p:nvSpPr>
          <p:cNvPr id="9" name="Text 7"/>
          <p:cNvSpPr/>
          <p:nvPr/>
        </p:nvSpPr>
        <p:spPr>
          <a:xfrm>
            <a:off x="256032" y="1024128"/>
            <a:ext cx="1572768" cy="649224"/>
          </a:xfrm>
          <a:prstGeom prst="rect">
            <a:avLst/>
          </a:prstGeom>
          <a:noFill/>
          <a:ln/>
        </p:spPr>
        <p:txBody>
          <a:bodyPr wrap="square" rtlCol="0" anchor="ctr"/>
          <a:lstStyle/>
          <a:p>
            <a:pPr algn="ctr" indent="0" marL="0">
              <a:buNone/>
            </a:pPr>
            <a:r>
              <a:rPr lang="en-US" sz="3600" b="1" dirty="0">
                <a:solidFill>
                  <a:srgbClr val="1B3A6B"/>
                </a:solidFill>
                <a:latin typeface="Arial Black" pitchFamily="34" charset="0"/>
                <a:ea typeface="Arial Black" pitchFamily="34" charset="-122"/>
                <a:cs typeface="Arial Black" pitchFamily="34" charset="-120"/>
              </a:rPr>
              <a:t>18</a:t>
            </a:r>
            <a:endParaRPr lang="en-US" sz="3600" dirty="0"/>
          </a:p>
        </p:txBody>
      </p:sp>
      <p:sp>
        <p:nvSpPr>
          <p:cNvPr id="10" name="Text 8"/>
          <p:cNvSpPr/>
          <p:nvPr/>
        </p:nvSpPr>
        <p:spPr>
          <a:xfrm>
            <a:off x="256032" y="1607881"/>
            <a:ext cx="1572768" cy="256032"/>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Sprints</a:t>
            </a:r>
            <a:endParaRPr lang="en-US" sz="1100" dirty="0"/>
          </a:p>
        </p:txBody>
      </p:sp>
      <p:sp>
        <p:nvSpPr>
          <p:cNvPr id="11" name="Text 9"/>
          <p:cNvSpPr/>
          <p:nvPr/>
        </p:nvSpPr>
        <p:spPr>
          <a:xfrm>
            <a:off x="256032" y="1867571"/>
            <a:ext cx="1572768" cy="20116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completados</a:t>
            </a:r>
            <a:endParaRPr lang="en-US" sz="900" dirty="0"/>
          </a:p>
        </p:txBody>
      </p:sp>
      <p:sp>
        <p:nvSpPr>
          <p:cNvPr id="12" name="Shape 10"/>
          <p:cNvSpPr/>
          <p:nvPr/>
        </p:nvSpPr>
        <p:spPr>
          <a:xfrm>
            <a:off x="1901952" y="932688"/>
            <a:ext cx="1572768" cy="1298448"/>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1901952" y="932688"/>
            <a:ext cx="1572768" cy="54864"/>
          </a:xfrm>
          <a:prstGeom prst="rect">
            <a:avLst/>
          </a:prstGeom>
          <a:solidFill>
            <a:srgbClr val="22C55E"/>
          </a:solidFill>
          <a:ln w="12700">
            <a:solidFill>
              <a:srgbClr val="22C55E"/>
            </a:solidFill>
            <a:prstDash val="solid"/>
          </a:ln>
        </p:spPr>
      </p:sp>
      <p:sp>
        <p:nvSpPr>
          <p:cNvPr id="14" name="Text 12"/>
          <p:cNvSpPr/>
          <p:nvPr/>
        </p:nvSpPr>
        <p:spPr>
          <a:xfrm>
            <a:off x="1901952" y="1024128"/>
            <a:ext cx="1572768" cy="649224"/>
          </a:xfrm>
          <a:prstGeom prst="rect">
            <a:avLst/>
          </a:prstGeom>
          <a:noFill/>
          <a:ln/>
        </p:spPr>
        <p:txBody>
          <a:bodyPr wrap="square" rtlCol="0" anchor="ctr"/>
          <a:lstStyle/>
          <a:p>
            <a:pPr algn="ctr" indent="0" marL="0">
              <a:buNone/>
            </a:pPr>
            <a:r>
              <a:rPr lang="en-US" sz="3600" b="1" dirty="0">
                <a:solidFill>
                  <a:srgbClr val="22C55E"/>
                </a:solidFill>
                <a:latin typeface="Arial Black" pitchFamily="34" charset="0"/>
                <a:ea typeface="Arial Black" pitchFamily="34" charset="-122"/>
                <a:cs typeface="Arial Black" pitchFamily="34" charset="-120"/>
              </a:rPr>
              <a:t>100%</a:t>
            </a:r>
            <a:endParaRPr lang="en-US" sz="3600" dirty="0"/>
          </a:p>
        </p:txBody>
      </p:sp>
      <p:sp>
        <p:nvSpPr>
          <p:cNvPr id="15" name="Text 13"/>
          <p:cNvSpPr/>
          <p:nvPr/>
        </p:nvSpPr>
        <p:spPr>
          <a:xfrm>
            <a:off x="1901952" y="1607881"/>
            <a:ext cx="1572768" cy="256032"/>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Completado</a:t>
            </a:r>
            <a:endParaRPr lang="en-US" sz="1100" dirty="0"/>
          </a:p>
        </p:txBody>
      </p:sp>
      <p:sp>
        <p:nvSpPr>
          <p:cNvPr id="16" name="Text 14"/>
          <p:cNvSpPr/>
          <p:nvPr/>
        </p:nvSpPr>
        <p:spPr>
          <a:xfrm>
            <a:off x="1901952" y="1867571"/>
            <a:ext cx="1572768" cy="20116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SP por sprint</a:t>
            </a:r>
            <a:endParaRPr lang="en-US" sz="900" dirty="0"/>
          </a:p>
        </p:txBody>
      </p:sp>
      <p:sp>
        <p:nvSpPr>
          <p:cNvPr id="17" name="Shape 15"/>
          <p:cNvSpPr/>
          <p:nvPr/>
        </p:nvSpPr>
        <p:spPr>
          <a:xfrm>
            <a:off x="3547872" y="932688"/>
            <a:ext cx="1572768" cy="1298448"/>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547872" y="932688"/>
            <a:ext cx="1572768" cy="54864"/>
          </a:xfrm>
          <a:prstGeom prst="rect">
            <a:avLst/>
          </a:prstGeom>
          <a:solidFill>
            <a:srgbClr val="C84A14"/>
          </a:solidFill>
          <a:ln w="12700">
            <a:solidFill>
              <a:srgbClr val="C84A14"/>
            </a:solidFill>
            <a:prstDash val="solid"/>
          </a:ln>
        </p:spPr>
      </p:sp>
      <p:sp>
        <p:nvSpPr>
          <p:cNvPr id="19" name="Text 17"/>
          <p:cNvSpPr/>
          <p:nvPr/>
        </p:nvSpPr>
        <p:spPr>
          <a:xfrm>
            <a:off x="3547872" y="1024128"/>
            <a:ext cx="1572768" cy="649224"/>
          </a:xfrm>
          <a:prstGeom prst="rect">
            <a:avLst/>
          </a:prstGeom>
          <a:noFill/>
          <a:ln/>
        </p:spPr>
        <p:txBody>
          <a:bodyPr wrap="square" rtlCol="0" anchor="ctr"/>
          <a:lstStyle/>
          <a:p>
            <a:pPr algn="ctr" indent="0" marL="0">
              <a:buNone/>
            </a:pPr>
            <a:r>
              <a:rPr lang="en-US" sz="3600" b="1" dirty="0">
                <a:solidFill>
                  <a:srgbClr val="C84A14"/>
                </a:solidFill>
                <a:latin typeface="Arial Black" pitchFamily="34" charset="0"/>
                <a:ea typeface="Arial Black" pitchFamily="34" charset="-122"/>
                <a:cs typeface="Arial Black" pitchFamily="34" charset="-120"/>
              </a:rPr>
              <a:t>0</a:t>
            </a:r>
            <a:endParaRPr lang="en-US" sz="3600" dirty="0"/>
          </a:p>
        </p:txBody>
      </p:sp>
      <p:sp>
        <p:nvSpPr>
          <p:cNvPr id="20" name="Text 18"/>
          <p:cNvSpPr/>
          <p:nvPr/>
        </p:nvSpPr>
        <p:spPr>
          <a:xfrm>
            <a:off x="3547872" y="1607881"/>
            <a:ext cx="1572768" cy="256032"/>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Defectos</a:t>
            </a:r>
            <a:endParaRPr lang="en-US" sz="1100" dirty="0"/>
          </a:p>
        </p:txBody>
      </p:sp>
      <p:sp>
        <p:nvSpPr>
          <p:cNvPr id="21" name="Text 19"/>
          <p:cNvSpPr/>
          <p:nvPr/>
        </p:nvSpPr>
        <p:spPr>
          <a:xfrm>
            <a:off x="3547872" y="1867571"/>
            <a:ext cx="1572768" cy="20116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Sprint 18</a:t>
            </a:r>
            <a:endParaRPr lang="en-US" sz="900" dirty="0"/>
          </a:p>
        </p:txBody>
      </p:sp>
      <p:sp>
        <p:nvSpPr>
          <p:cNvPr id="22" name="Shape 20"/>
          <p:cNvSpPr/>
          <p:nvPr/>
        </p:nvSpPr>
        <p:spPr>
          <a:xfrm>
            <a:off x="5193792" y="932688"/>
            <a:ext cx="1572768" cy="1298448"/>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5193792" y="932688"/>
            <a:ext cx="1572768" cy="54864"/>
          </a:xfrm>
          <a:prstGeom prst="rect">
            <a:avLst/>
          </a:prstGeom>
          <a:solidFill>
            <a:srgbClr val="2F6B61"/>
          </a:solidFill>
          <a:ln w="12700">
            <a:solidFill>
              <a:srgbClr val="2F6B61"/>
            </a:solidFill>
            <a:prstDash val="solid"/>
          </a:ln>
        </p:spPr>
      </p:sp>
      <p:sp>
        <p:nvSpPr>
          <p:cNvPr id="24" name="Text 22"/>
          <p:cNvSpPr/>
          <p:nvPr/>
        </p:nvSpPr>
        <p:spPr>
          <a:xfrm>
            <a:off x="5193792" y="1024128"/>
            <a:ext cx="1572768" cy="649224"/>
          </a:xfrm>
          <a:prstGeom prst="rect">
            <a:avLst/>
          </a:prstGeom>
          <a:noFill/>
          <a:ln/>
        </p:spPr>
        <p:txBody>
          <a:bodyPr wrap="square" rtlCol="0" anchor="ctr"/>
          <a:lstStyle/>
          <a:p>
            <a:pPr algn="ctr" indent="0" marL="0">
              <a:buNone/>
            </a:pPr>
            <a:r>
              <a:rPr lang="en-US" sz="3600" b="1" dirty="0">
                <a:solidFill>
                  <a:srgbClr val="2F6B61"/>
                </a:solidFill>
                <a:latin typeface="Arial Black" pitchFamily="34" charset="0"/>
                <a:ea typeface="Arial Black" pitchFamily="34" charset="-122"/>
                <a:cs typeface="Arial Black" pitchFamily="34" charset="-120"/>
              </a:rPr>
              <a:t>677</a:t>
            </a:r>
            <a:endParaRPr lang="en-US" sz="3600" dirty="0"/>
          </a:p>
        </p:txBody>
      </p:sp>
      <p:sp>
        <p:nvSpPr>
          <p:cNvPr id="25" name="Text 23"/>
          <p:cNvSpPr/>
          <p:nvPr/>
        </p:nvSpPr>
        <p:spPr>
          <a:xfrm>
            <a:off x="5193792" y="1607881"/>
            <a:ext cx="1572768" cy="256032"/>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Tests</a:t>
            </a:r>
            <a:endParaRPr lang="en-US" sz="1100" dirty="0"/>
          </a:p>
        </p:txBody>
      </p:sp>
      <p:sp>
        <p:nvSpPr>
          <p:cNvPr id="26" name="Text 24"/>
          <p:cNvSpPr/>
          <p:nvPr/>
        </p:nvSpPr>
        <p:spPr>
          <a:xfrm>
            <a:off x="5193792" y="1867571"/>
            <a:ext cx="1572768" cy="20116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automatizados</a:t>
            </a:r>
            <a:endParaRPr lang="en-US" sz="900" dirty="0"/>
          </a:p>
        </p:txBody>
      </p:sp>
      <p:sp>
        <p:nvSpPr>
          <p:cNvPr id="27" name="Shape 25"/>
          <p:cNvSpPr/>
          <p:nvPr/>
        </p:nvSpPr>
        <p:spPr>
          <a:xfrm>
            <a:off x="6839712" y="932688"/>
            <a:ext cx="1572768" cy="1298448"/>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6839712" y="932688"/>
            <a:ext cx="1572768" cy="54864"/>
          </a:xfrm>
          <a:prstGeom prst="rect">
            <a:avLst/>
          </a:prstGeom>
          <a:solidFill>
            <a:srgbClr val="3D5A80"/>
          </a:solidFill>
          <a:ln w="12700">
            <a:solidFill>
              <a:srgbClr val="3D5A80"/>
            </a:solidFill>
            <a:prstDash val="solid"/>
          </a:ln>
        </p:spPr>
      </p:sp>
      <p:sp>
        <p:nvSpPr>
          <p:cNvPr id="29" name="Text 27"/>
          <p:cNvSpPr/>
          <p:nvPr/>
        </p:nvSpPr>
        <p:spPr>
          <a:xfrm>
            <a:off x="6839712" y="1024128"/>
            <a:ext cx="1572768" cy="649224"/>
          </a:xfrm>
          <a:prstGeom prst="rect">
            <a:avLst/>
          </a:prstGeom>
          <a:noFill/>
          <a:ln/>
        </p:spPr>
        <p:txBody>
          <a:bodyPr wrap="square" rtlCol="0" anchor="ctr"/>
          <a:lstStyle/>
          <a:p>
            <a:pPr algn="ctr" indent="0" marL="0">
              <a:buNone/>
            </a:pPr>
            <a:r>
              <a:rPr lang="en-US" sz="3600" b="1" dirty="0">
                <a:solidFill>
                  <a:srgbClr val="3D5A80"/>
                </a:solidFill>
                <a:latin typeface="Arial Black" pitchFamily="34" charset="0"/>
                <a:ea typeface="Arial Black" pitchFamily="34" charset="-122"/>
                <a:cs typeface="Arial Black" pitchFamily="34" charset="-120"/>
              </a:rPr>
              <a:t>86%</a:t>
            </a:r>
            <a:endParaRPr lang="en-US" sz="3600" dirty="0"/>
          </a:p>
        </p:txBody>
      </p:sp>
      <p:sp>
        <p:nvSpPr>
          <p:cNvPr id="30" name="Text 28"/>
          <p:cNvSpPr/>
          <p:nvPr/>
        </p:nvSpPr>
        <p:spPr>
          <a:xfrm>
            <a:off x="6839712" y="1607881"/>
            <a:ext cx="1572768" cy="256032"/>
          </a:xfrm>
          <a:prstGeom prst="rect">
            <a:avLst/>
          </a:prstGeom>
          <a:noFill/>
          <a:ln/>
        </p:spPr>
        <p:txBody>
          <a:bodyPr wrap="square" rtlCol="0" anchor="ctr"/>
          <a:lstStyle/>
          <a:p>
            <a:pPr algn="ctr" indent="0" marL="0">
              <a:buNone/>
            </a:pPr>
            <a:r>
              <a:rPr lang="en-US" sz="1100" b="1" dirty="0">
                <a:solidFill>
                  <a:srgbClr val="334155"/>
                </a:solidFill>
                <a:latin typeface="Arial" pitchFamily="34" charset="0"/>
                <a:ea typeface="Arial" pitchFamily="34" charset="-122"/>
                <a:cs typeface="Arial" pitchFamily="34" charset="-120"/>
              </a:rPr>
              <a:t>Cobertura</a:t>
            </a:r>
            <a:endParaRPr lang="en-US" sz="1100" dirty="0"/>
          </a:p>
        </p:txBody>
      </p:sp>
      <p:sp>
        <p:nvSpPr>
          <p:cNvPr id="31" name="Text 29"/>
          <p:cNvSpPr/>
          <p:nvPr/>
        </p:nvSpPr>
        <p:spPr>
          <a:xfrm>
            <a:off x="6839712" y="1867571"/>
            <a:ext cx="1572768" cy="201168"/>
          </a:xfrm>
          <a:prstGeom prst="rect">
            <a:avLst/>
          </a:prstGeom>
          <a:noFill/>
          <a:ln/>
        </p:spPr>
        <p:txBody>
          <a:bodyPr wrap="square" rtlCol="0" anchor="ctr"/>
          <a:lstStyle/>
          <a:p>
            <a:pPr algn="ctr" indent="0" marL="0">
              <a:buNone/>
            </a:pPr>
            <a:r>
              <a:rPr lang="en-US" sz="900" dirty="0">
                <a:solidFill>
                  <a:srgbClr val="64748B"/>
                </a:solidFill>
                <a:latin typeface="Arial" pitchFamily="34" charset="0"/>
                <a:ea typeface="Arial" pitchFamily="34" charset="-122"/>
                <a:cs typeface="Arial" pitchFamily="34" charset="-120"/>
              </a:rPr>
              <a:t>código</a:t>
            </a:r>
            <a:endParaRPr lang="en-US" sz="900" dirty="0"/>
          </a:p>
        </p:txBody>
      </p:sp>
      <p:sp>
        <p:nvSpPr>
          <p:cNvPr id="32" name="Text 30"/>
          <p:cNvSpPr/>
          <p:nvPr/>
        </p:nvSpPr>
        <p:spPr>
          <a:xfrm>
            <a:off x="274320" y="2340864"/>
            <a:ext cx="4389120" cy="228600"/>
          </a:xfrm>
          <a:prstGeom prst="rect">
            <a:avLst/>
          </a:prstGeom>
          <a:noFill/>
          <a:ln/>
        </p:spPr>
        <p:txBody>
          <a:bodyPr wrap="square" rtlCol="0" anchor="ctr"/>
          <a:lstStyle/>
          <a:p>
            <a:pPr indent="0" marL="0">
              <a:buNone/>
            </a:pPr>
            <a:r>
              <a:rPr lang="en-US" sz="950" b="1" dirty="0">
                <a:solidFill>
                  <a:srgbClr val="334155"/>
                </a:solidFill>
                <a:latin typeface="Arial" pitchFamily="34" charset="0"/>
                <a:ea typeface="Arial" pitchFamily="34" charset="-122"/>
                <a:cs typeface="Arial" pitchFamily="34" charset="-120"/>
              </a:rPr>
              <a:t>Velocidad por sprint (Story Points)</a:t>
            </a:r>
            <a:endParaRPr lang="en-US" sz="950" dirty="0"/>
          </a:p>
        </p:txBody>
      </p:sp>
      <p:graphicFrame>
        <p:nvGraphicFramePr>
          <p:cNvPr id="33" name="Chart 0" descr=""/>
          <p:cNvGraphicFramePr/>
          <p:nvPr/>
        </p:nvGraphicFramePr>
        <p:xfrm>
          <a:off x="256032" y="2578608"/>
          <a:ext cx="5303520" cy="2286000"/>
        </p:xfrm>
        <a:graphic xmlns:a="http://schemas.openxmlformats.org/drawingml/2006/main">
          <a:graphicData uri="http://schemas.openxmlformats.org/drawingml/2006/chart">
            <c:chart xmlns:c="http://schemas.openxmlformats.org/drawingml/2006/chart" r:id="rId1"/>
          </a:graphicData>
        </a:graphic>
      </p:graphicFrame>
      <p:sp>
        <p:nvSpPr>
          <p:cNvPr id="34" name="Shape 31"/>
          <p:cNvSpPr/>
          <p:nvPr/>
        </p:nvSpPr>
        <p:spPr>
          <a:xfrm>
            <a:off x="5760720" y="2578608"/>
            <a:ext cx="3108960" cy="512064"/>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35" name="Shape 32"/>
          <p:cNvSpPr/>
          <p:nvPr/>
        </p:nvSpPr>
        <p:spPr>
          <a:xfrm>
            <a:off x="5760720" y="2578608"/>
            <a:ext cx="73152" cy="512064"/>
          </a:xfrm>
          <a:prstGeom prst="rect">
            <a:avLst/>
          </a:prstGeom>
          <a:solidFill>
            <a:srgbClr val="C84A14"/>
          </a:solidFill>
          <a:ln w="12700">
            <a:solidFill>
              <a:srgbClr val="C84A14"/>
            </a:solidFill>
            <a:prstDash val="solid"/>
          </a:ln>
        </p:spPr>
      </p:sp>
      <p:sp>
        <p:nvSpPr>
          <p:cNvPr id="36" name="Text 33"/>
          <p:cNvSpPr/>
          <p:nvPr/>
        </p:nvSpPr>
        <p:spPr>
          <a:xfrm>
            <a:off x="5897880" y="2578608"/>
            <a:ext cx="1371600" cy="512064"/>
          </a:xfrm>
          <a:prstGeom prst="rect">
            <a:avLst/>
          </a:prstGeom>
          <a:noFill/>
          <a:ln/>
        </p:spPr>
        <p:txBody>
          <a:bodyPr wrap="square" rtlCol="0" anchor="ctr"/>
          <a:lstStyle/>
          <a:p>
            <a:pPr indent="0" marL="0">
              <a:buNone/>
            </a:pPr>
            <a:r>
              <a:rPr lang="en-US" sz="2000" b="1" dirty="0">
                <a:solidFill>
                  <a:srgbClr val="C84A14"/>
                </a:solidFill>
                <a:latin typeface="Arial Black" pitchFamily="34" charset="0"/>
                <a:ea typeface="Arial Black" pitchFamily="34" charset="-122"/>
                <a:cs typeface="Arial Black" pitchFamily="34" charset="-120"/>
              </a:rPr>
              <a:t>425 SP</a:t>
            </a:r>
            <a:endParaRPr lang="en-US" sz="2000" dirty="0"/>
          </a:p>
        </p:txBody>
      </p:sp>
      <p:sp>
        <p:nvSpPr>
          <p:cNvPr id="37" name="Text 34"/>
          <p:cNvSpPr/>
          <p:nvPr/>
        </p:nvSpPr>
        <p:spPr>
          <a:xfrm>
            <a:off x="7269480" y="2578608"/>
            <a:ext cx="1554480" cy="512064"/>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Acumulados</a:t>
            </a:r>
            <a:endParaRPr lang="en-US" sz="1100" dirty="0"/>
          </a:p>
        </p:txBody>
      </p:sp>
      <p:sp>
        <p:nvSpPr>
          <p:cNvPr id="38" name="Shape 35"/>
          <p:cNvSpPr/>
          <p:nvPr/>
        </p:nvSpPr>
        <p:spPr>
          <a:xfrm>
            <a:off x="5760720" y="3163824"/>
            <a:ext cx="3108960" cy="512064"/>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39" name="Shape 36"/>
          <p:cNvSpPr/>
          <p:nvPr/>
        </p:nvSpPr>
        <p:spPr>
          <a:xfrm>
            <a:off x="5760720" y="3163824"/>
            <a:ext cx="73152" cy="512064"/>
          </a:xfrm>
          <a:prstGeom prst="rect">
            <a:avLst/>
          </a:prstGeom>
          <a:solidFill>
            <a:srgbClr val="2F6B61"/>
          </a:solidFill>
          <a:ln w="12700">
            <a:solidFill>
              <a:srgbClr val="2F6B61"/>
            </a:solidFill>
            <a:prstDash val="solid"/>
          </a:ln>
        </p:spPr>
      </p:sp>
      <p:sp>
        <p:nvSpPr>
          <p:cNvPr id="40" name="Text 37"/>
          <p:cNvSpPr/>
          <p:nvPr/>
        </p:nvSpPr>
        <p:spPr>
          <a:xfrm>
            <a:off x="5897880" y="3163824"/>
            <a:ext cx="1371600" cy="512064"/>
          </a:xfrm>
          <a:prstGeom prst="rect">
            <a:avLst/>
          </a:prstGeom>
          <a:noFill/>
          <a:ln/>
        </p:spPr>
        <p:txBody>
          <a:bodyPr wrap="square" rtlCol="0" anchor="ctr"/>
          <a:lstStyle/>
          <a:p>
            <a:pPr indent="0" marL="0">
              <a:buNone/>
            </a:pPr>
            <a:r>
              <a:rPr lang="en-US" sz="2000" b="1" dirty="0">
                <a:solidFill>
                  <a:srgbClr val="2F6B61"/>
                </a:solidFill>
                <a:latin typeface="Arial Black" pitchFamily="34" charset="0"/>
                <a:ea typeface="Arial Black" pitchFamily="34" charset="-122"/>
                <a:cs typeface="Arial Black" pitchFamily="34" charset="-120"/>
              </a:rPr>
              <a:t>23.6</a:t>
            </a:r>
            <a:endParaRPr lang="en-US" sz="2000" dirty="0"/>
          </a:p>
        </p:txBody>
      </p:sp>
      <p:sp>
        <p:nvSpPr>
          <p:cNvPr id="41" name="Text 38"/>
          <p:cNvSpPr/>
          <p:nvPr/>
        </p:nvSpPr>
        <p:spPr>
          <a:xfrm>
            <a:off x="7269480" y="3163824"/>
            <a:ext cx="1554480" cy="512064"/>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SP / sprint</a:t>
            </a:r>
            <a:endParaRPr lang="en-US" sz="1100" dirty="0"/>
          </a:p>
        </p:txBody>
      </p:sp>
      <p:sp>
        <p:nvSpPr>
          <p:cNvPr id="42" name="Shape 39"/>
          <p:cNvSpPr/>
          <p:nvPr/>
        </p:nvSpPr>
        <p:spPr>
          <a:xfrm>
            <a:off x="5760720" y="3749040"/>
            <a:ext cx="3108960" cy="512064"/>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43" name="Shape 40"/>
          <p:cNvSpPr/>
          <p:nvPr/>
        </p:nvSpPr>
        <p:spPr>
          <a:xfrm>
            <a:off x="5760720" y="3749040"/>
            <a:ext cx="73152" cy="512064"/>
          </a:xfrm>
          <a:prstGeom prst="rect">
            <a:avLst/>
          </a:prstGeom>
          <a:solidFill>
            <a:srgbClr val="22C55E"/>
          </a:solidFill>
          <a:ln w="12700">
            <a:solidFill>
              <a:srgbClr val="22C55E"/>
            </a:solidFill>
            <a:prstDash val="solid"/>
          </a:ln>
        </p:spPr>
      </p:sp>
      <p:sp>
        <p:nvSpPr>
          <p:cNvPr id="44" name="Text 41"/>
          <p:cNvSpPr/>
          <p:nvPr/>
        </p:nvSpPr>
        <p:spPr>
          <a:xfrm>
            <a:off x="5897880" y="3749040"/>
            <a:ext cx="1371600" cy="512064"/>
          </a:xfrm>
          <a:prstGeom prst="rect">
            <a:avLst/>
          </a:prstGeom>
          <a:noFill/>
          <a:ln/>
        </p:spPr>
        <p:txBody>
          <a:bodyPr wrap="square" rtlCol="0" anchor="ctr"/>
          <a:lstStyle/>
          <a:p>
            <a:pPr indent="0" marL="0">
              <a:buNone/>
            </a:pPr>
            <a:r>
              <a:rPr lang="en-US" sz="2000" b="1" dirty="0">
                <a:solidFill>
                  <a:srgbClr val="22C55E"/>
                </a:solidFill>
                <a:latin typeface="Arial Black" pitchFamily="34" charset="0"/>
                <a:ea typeface="Arial Black" pitchFamily="34" charset="-122"/>
                <a:cs typeface="Arial Black" pitchFamily="34" charset="-120"/>
              </a:rPr>
              <a:t>0 CVE</a:t>
            </a:r>
            <a:endParaRPr lang="en-US" sz="2000" dirty="0"/>
          </a:p>
        </p:txBody>
      </p:sp>
      <p:sp>
        <p:nvSpPr>
          <p:cNvPr id="45" name="Text 42"/>
          <p:cNvSpPr/>
          <p:nvPr/>
        </p:nvSpPr>
        <p:spPr>
          <a:xfrm>
            <a:off x="7269480" y="3749040"/>
            <a:ext cx="1554480" cy="512064"/>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Críticos</a:t>
            </a:r>
            <a:endParaRPr lang="en-US" sz="1100" dirty="0"/>
          </a:p>
        </p:txBody>
      </p:sp>
      <p:sp>
        <p:nvSpPr>
          <p:cNvPr id="46" name="Shape 43"/>
          <p:cNvSpPr/>
          <p:nvPr/>
        </p:nvSpPr>
        <p:spPr>
          <a:xfrm>
            <a:off x="5760720" y="4334256"/>
            <a:ext cx="3108960" cy="512064"/>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47" name="Shape 44"/>
          <p:cNvSpPr/>
          <p:nvPr/>
        </p:nvSpPr>
        <p:spPr>
          <a:xfrm>
            <a:off x="5760720" y="4334256"/>
            <a:ext cx="73152" cy="512064"/>
          </a:xfrm>
          <a:prstGeom prst="rect">
            <a:avLst/>
          </a:prstGeom>
          <a:solidFill>
            <a:srgbClr val="3D5A80"/>
          </a:solidFill>
          <a:ln w="12700">
            <a:solidFill>
              <a:srgbClr val="3D5A80"/>
            </a:solidFill>
            <a:prstDash val="solid"/>
          </a:ln>
        </p:spPr>
      </p:sp>
      <p:sp>
        <p:nvSpPr>
          <p:cNvPr id="48" name="Text 45"/>
          <p:cNvSpPr/>
          <p:nvPr/>
        </p:nvSpPr>
        <p:spPr>
          <a:xfrm>
            <a:off x="5897880" y="4334256"/>
            <a:ext cx="1371600" cy="512064"/>
          </a:xfrm>
          <a:prstGeom prst="rect">
            <a:avLst/>
          </a:prstGeom>
          <a:noFill/>
          <a:ln/>
        </p:spPr>
        <p:txBody>
          <a:bodyPr wrap="square" rtlCol="0" anchor="ctr"/>
          <a:lstStyle/>
          <a:p>
            <a:pPr indent="0" marL="0">
              <a:buNone/>
            </a:pPr>
            <a:r>
              <a:rPr lang="en-US" sz="2000" b="1" dirty="0">
                <a:solidFill>
                  <a:srgbClr val="3D5A80"/>
                </a:solidFill>
                <a:latin typeface="Arial Black" pitchFamily="34" charset="0"/>
                <a:ea typeface="Arial Black" pitchFamily="34" charset="-122"/>
                <a:cs typeface="Arial Black" pitchFamily="34" charset="-120"/>
              </a:rPr>
              <a:t>v1.18</a:t>
            </a:r>
            <a:endParaRPr lang="en-US" sz="2000" dirty="0"/>
          </a:p>
        </p:txBody>
      </p:sp>
      <p:sp>
        <p:nvSpPr>
          <p:cNvPr id="49" name="Text 46"/>
          <p:cNvSpPr/>
          <p:nvPr/>
        </p:nvSpPr>
        <p:spPr>
          <a:xfrm>
            <a:off x="7269480" y="4334256"/>
            <a:ext cx="1554480" cy="512064"/>
          </a:xfrm>
          <a:prstGeom prst="rect">
            <a:avLst/>
          </a:prstGeom>
          <a:noFill/>
          <a:ln/>
        </p:spPr>
        <p:txBody>
          <a:bodyPr wrap="square" rtlCol="0" anchor="ctr"/>
          <a:lstStyle/>
          <a:p>
            <a:pPr indent="0" marL="0">
              <a:buNone/>
            </a:pPr>
            <a:r>
              <a:rPr lang="en-US" sz="1100" dirty="0">
                <a:solidFill>
                  <a:srgbClr val="334155"/>
                </a:solidFill>
                <a:latin typeface="Arial" pitchFamily="34" charset="0"/>
                <a:ea typeface="Arial" pitchFamily="34" charset="-122"/>
                <a:cs typeface="Arial" pitchFamily="34" charset="-120"/>
              </a:rPr>
              <a:t>Versión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62E54"/>
          </a:solidFill>
          <a:ln w="12700">
            <a:solidFill>
              <a:srgbClr val="162E54"/>
            </a:solidFill>
            <a:prstDash val="solid"/>
          </a:ln>
        </p:spPr>
      </p:sp>
      <p:sp>
        <p:nvSpPr>
          <p:cNvPr id="3" name="Shape 1"/>
          <p:cNvSpPr/>
          <p:nvPr/>
        </p:nvSpPr>
        <p:spPr>
          <a:xfrm>
            <a:off x="0" y="0"/>
            <a:ext cx="9144000" cy="64008"/>
          </a:xfrm>
          <a:prstGeom prst="rect">
            <a:avLst/>
          </a:prstGeom>
          <a:solidFill>
            <a:srgbClr val="C84A14"/>
          </a:solidFill>
          <a:ln w="12700">
            <a:solidFill>
              <a:srgbClr val="C84A14"/>
            </a:solidFill>
            <a:prstDash val="solid"/>
          </a:ln>
        </p:spPr>
      </p:sp>
      <p:sp>
        <p:nvSpPr>
          <p:cNvPr id="4" name="Text 2"/>
          <p:cNvSpPr/>
          <p:nvPr/>
        </p:nvSpPr>
        <p:spPr>
          <a:xfrm>
            <a:off x="457200" y="914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¿Qué gana Experis con XFORGE?</a:t>
            </a:r>
            <a:endParaRPr lang="en-US" sz="2200" dirty="0"/>
          </a:p>
        </p:txBody>
      </p:sp>
      <p:sp>
        <p:nvSpPr>
          <p:cNvPr id="5" name="Text 3"/>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6" name="Text 4"/>
          <p:cNvSpPr/>
          <p:nvPr/>
        </p:nvSpPr>
        <p:spPr>
          <a:xfrm>
            <a:off x="365760" y="621792"/>
            <a:ext cx="8412480" cy="219456"/>
          </a:xfrm>
          <a:prstGeom prst="rect">
            <a:avLst/>
          </a:prstGeom>
          <a:noFill/>
          <a:ln/>
        </p:spPr>
        <p:txBody>
          <a:bodyPr wrap="square" rtlCol="0" anchor="ctr"/>
          <a:lstStyle/>
          <a:p>
            <a:pPr indent="0" marL="0">
              <a:buNone/>
            </a:pPr>
            <a:r>
              <a:rPr lang="en-US" sz="1000" i="1" dirty="0">
                <a:solidFill>
                  <a:srgbClr val="64748B"/>
                </a:solidFill>
                <a:latin typeface="Arial" pitchFamily="34" charset="0"/>
                <a:ea typeface="Arial" pitchFamily="34" charset="-122"/>
                <a:cs typeface="Arial" pitchFamily="34" charset="-120"/>
              </a:rPr>
              <a:t>Ventajas competitivas reales para el negocio de consultoría tecnológica</a:t>
            </a:r>
            <a:endParaRPr lang="en-US" sz="1000" dirty="0"/>
          </a:p>
        </p:txBody>
      </p:sp>
      <p:sp>
        <p:nvSpPr>
          <p:cNvPr id="7" name="Shape 5"/>
          <p:cNvSpPr/>
          <p:nvPr/>
        </p:nvSpPr>
        <p:spPr>
          <a:xfrm>
            <a:off x="274320" y="960120"/>
            <a:ext cx="2724912"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74320" y="960120"/>
            <a:ext cx="73152" cy="1783080"/>
          </a:xfrm>
          <a:prstGeom prst="rect">
            <a:avLst/>
          </a:prstGeom>
          <a:solidFill>
            <a:srgbClr val="C84A14"/>
          </a:solidFill>
          <a:ln w="12700">
            <a:solidFill>
              <a:srgbClr val="C84A14"/>
            </a:solidFill>
            <a:prstDash val="solid"/>
          </a:ln>
        </p:spPr>
      </p:sp>
      <p:sp>
        <p:nvSpPr>
          <p:cNvPr id="9" name="Text 7"/>
          <p:cNvSpPr/>
          <p:nvPr/>
        </p:nvSpPr>
        <p:spPr>
          <a:xfrm>
            <a:off x="438912" y="1069848"/>
            <a:ext cx="2468880" cy="365760"/>
          </a:xfrm>
          <a:prstGeom prst="rect">
            <a:avLst/>
          </a:prstGeom>
          <a:noFill/>
          <a:ln/>
        </p:spPr>
        <p:txBody>
          <a:bodyPr wrap="square" rtlCol="0" anchor="ctr"/>
          <a:lstStyle/>
          <a:p>
            <a:pPr indent="0" marL="0">
              <a:buNone/>
            </a:pPr>
            <a:r>
              <a:rPr lang="en-US" sz="1100" b="1" dirty="0">
                <a:solidFill>
                  <a:srgbClr val="334155"/>
                </a:solidFill>
                <a:latin typeface="Arial" pitchFamily="34" charset="0"/>
                <a:ea typeface="Arial" pitchFamily="34" charset="-122"/>
                <a:cs typeface="Arial" pitchFamily="34" charset="-120"/>
              </a:rPr>
              <a:t>⚡  Rapidez de entrega</a:t>
            </a:r>
            <a:endParaRPr lang="en-US" sz="1100" dirty="0"/>
          </a:p>
        </p:txBody>
      </p:sp>
      <p:sp>
        <p:nvSpPr>
          <p:cNvPr id="10" name="Text 8"/>
          <p:cNvSpPr/>
          <p:nvPr/>
        </p:nvSpPr>
        <p:spPr>
          <a:xfrm>
            <a:off x="438912" y="1490472"/>
            <a:ext cx="2468880" cy="109728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Arranque de proyecto en horas, no en semanas. Menor time-to-market para los clientes.</a:t>
            </a:r>
            <a:endParaRPr lang="en-US" sz="950" dirty="0"/>
          </a:p>
        </p:txBody>
      </p:sp>
      <p:sp>
        <p:nvSpPr>
          <p:cNvPr id="11" name="Shape 9"/>
          <p:cNvSpPr/>
          <p:nvPr/>
        </p:nvSpPr>
        <p:spPr>
          <a:xfrm>
            <a:off x="3182112" y="960120"/>
            <a:ext cx="2724912"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3182112" y="960120"/>
            <a:ext cx="73152" cy="1783080"/>
          </a:xfrm>
          <a:prstGeom prst="rect">
            <a:avLst/>
          </a:prstGeom>
          <a:solidFill>
            <a:srgbClr val="2F6B61"/>
          </a:solidFill>
          <a:ln w="12700">
            <a:solidFill>
              <a:srgbClr val="2F6B61"/>
            </a:solidFill>
            <a:prstDash val="solid"/>
          </a:ln>
        </p:spPr>
      </p:sp>
      <p:sp>
        <p:nvSpPr>
          <p:cNvPr id="13" name="Text 11"/>
          <p:cNvSpPr/>
          <p:nvPr/>
        </p:nvSpPr>
        <p:spPr>
          <a:xfrm>
            <a:off x="3346704" y="1069848"/>
            <a:ext cx="2468880" cy="365760"/>
          </a:xfrm>
          <a:prstGeom prst="rect">
            <a:avLst/>
          </a:prstGeom>
          <a:noFill/>
          <a:ln/>
        </p:spPr>
        <p:txBody>
          <a:bodyPr wrap="square" rtlCol="0" anchor="ctr"/>
          <a:lstStyle/>
          <a:p>
            <a:pPr indent="0" marL="0">
              <a:buNone/>
            </a:pPr>
            <a:r>
              <a:rPr lang="en-US" sz="1100" b="1" dirty="0">
                <a:solidFill>
                  <a:srgbClr val="334155"/>
                </a:solidFill>
                <a:latin typeface="Arial" pitchFamily="34" charset="0"/>
                <a:ea typeface="Arial" pitchFamily="34" charset="-122"/>
                <a:cs typeface="Arial" pitchFamily="34" charset="-120"/>
              </a:rPr>
              <a:t>📈  Mayor margen</a:t>
            </a:r>
            <a:endParaRPr lang="en-US" sz="1100" dirty="0"/>
          </a:p>
        </p:txBody>
      </p:sp>
      <p:sp>
        <p:nvSpPr>
          <p:cNvPr id="14" name="Text 12"/>
          <p:cNvSpPr/>
          <p:nvPr/>
        </p:nvSpPr>
        <p:spPr>
          <a:xfrm>
            <a:off x="3346704" y="1490472"/>
            <a:ext cx="2468880" cy="109728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Reducción del coste de producción en un 40-60%. El equipo humano se enfoca en valor, no en tareas.</a:t>
            </a:r>
            <a:endParaRPr lang="en-US" sz="950" dirty="0"/>
          </a:p>
        </p:txBody>
      </p:sp>
      <p:sp>
        <p:nvSpPr>
          <p:cNvPr id="15" name="Shape 13"/>
          <p:cNvSpPr/>
          <p:nvPr/>
        </p:nvSpPr>
        <p:spPr>
          <a:xfrm>
            <a:off x="6089904" y="960120"/>
            <a:ext cx="2724912"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6" name="Shape 14"/>
          <p:cNvSpPr/>
          <p:nvPr/>
        </p:nvSpPr>
        <p:spPr>
          <a:xfrm>
            <a:off x="6089904" y="960120"/>
            <a:ext cx="73152" cy="1783080"/>
          </a:xfrm>
          <a:prstGeom prst="rect">
            <a:avLst/>
          </a:prstGeom>
          <a:solidFill>
            <a:srgbClr val="6D3FA0"/>
          </a:solidFill>
          <a:ln w="12700">
            <a:solidFill>
              <a:srgbClr val="6D3FA0"/>
            </a:solidFill>
            <a:prstDash val="solid"/>
          </a:ln>
        </p:spPr>
      </p:sp>
      <p:sp>
        <p:nvSpPr>
          <p:cNvPr id="17" name="Text 15"/>
          <p:cNvSpPr/>
          <p:nvPr/>
        </p:nvSpPr>
        <p:spPr>
          <a:xfrm>
            <a:off x="6254496" y="1069848"/>
            <a:ext cx="2468880" cy="365760"/>
          </a:xfrm>
          <a:prstGeom prst="rect">
            <a:avLst/>
          </a:prstGeom>
          <a:noFill/>
          <a:ln/>
        </p:spPr>
        <p:txBody>
          <a:bodyPr wrap="square" rtlCol="0" anchor="ctr"/>
          <a:lstStyle/>
          <a:p>
            <a:pPr indent="0" marL="0">
              <a:buNone/>
            </a:pPr>
            <a:r>
              <a:rPr lang="en-US" sz="1100" b="1" dirty="0">
                <a:solidFill>
                  <a:srgbClr val="334155"/>
                </a:solidFill>
                <a:latin typeface="Arial" pitchFamily="34" charset="0"/>
                <a:ea typeface="Arial" pitchFamily="34" charset="-122"/>
                <a:cs typeface="Arial" pitchFamily="34" charset="-120"/>
              </a:rPr>
              <a:t>🏆  Calidad garantizada</a:t>
            </a:r>
            <a:endParaRPr lang="en-US" sz="1100" dirty="0"/>
          </a:p>
        </p:txBody>
      </p:sp>
      <p:sp>
        <p:nvSpPr>
          <p:cNvPr id="18" name="Text 16"/>
          <p:cNvSpPr/>
          <p:nvPr/>
        </p:nvSpPr>
        <p:spPr>
          <a:xfrm>
            <a:off x="6254496" y="1490472"/>
            <a:ext cx="2468880" cy="109728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CMMI Nivel 3 nativo. Cada proyecto sigue los mismos estándares de calidad sin variación.</a:t>
            </a:r>
            <a:endParaRPr lang="en-US" sz="950" dirty="0"/>
          </a:p>
        </p:txBody>
      </p:sp>
      <p:sp>
        <p:nvSpPr>
          <p:cNvPr id="19" name="Shape 17"/>
          <p:cNvSpPr/>
          <p:nvPr/>
        </p:nvSpPr>
        <p:spPr>
          <a:xfrm>
            <a:off x="274320" y="2926080"/>
            <a:ext cx="2724912"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2926080"/>
            <a:ext cx="73152" cy="1783080"/>
          </a:xfrm>
          <a:prstGeom prst="rect">
            <a:avLst/>
          </a:prstGeom>
          <a:solidFill>
            <a:srgbClr val="3D5A80"/>
          </a:solidFill>
          <a:ln w="12700">
            <a:solidFill>
              <a:srgbClr val="3D5A80"/>
            </a:solidFill>
            <a:prstDash val="solid"/>
          </a:ln>
        </p:spPr>
      </p:sp>
      <p:sp>
        <p:nvSpPr>
          <p:cNvPr id="21" name="Text 19"/>
          <p:cNvSpPr/>
          <p:nvPr/>
        </p:nvSpPr>
        <p:spPr>
          <a:xfrm>
            <a:off x="438912" y="3035808"/>
            <a:ext cx="2468880" cy="365760"/>
          </a:xfrm>
          <a:prstGeom prst="rect">
            <a:avLst/>
          </a:prstGeom>
          <a:noFill/>
          <a:ln/>
        </p:spPr>
        <p:txBody>
          <a:bodyPr wrap="square" rtlCol="0" anchor="ctr"/>
          <a:lstStyle/>
          <a:p>
            <a:pPr indent="0" marL="0">
              <a:buNone/>
            </a:pPr>
            <a:r>
              <a:rPr lang="en-US" sz="1100" b="1" dirty="0">
                <a:solidFill>
                  <a:srgbClr val="334155"/>
                </a:solidFill>
                <a:latin typeface="Arial" pitchFamily="34" charset="0"/>
                <a:ea typeface="Arial" pitchFamily="34" charset="-122"/>
                <a:cs typeface="Arial" pitchFamily="34" charset="-120"/>
              </a:rPr>
              <a:t>💎  Diferenciación clara</a:t>
            </a:r>
            <a:endParaRPr lang="en-US" sz="1100" dirty="0"/>
          </a:p>
        </p:txBody>
      </p:sp>
      <p:sp>
        <p:nvSpPr>
          <p:cNvPr id="22" name="Text 20"/>
          <p:cNvSpPr/>
          <p:nvPr/>
        </p:nvSpPr>
        <p:spPr>
          <a:xfrm>
            <a:off x="438912" y="3456432"/>
            <a:ext cx="2468880" cy="109728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Una factoría de software con IA es una propuesta única en el mercado de consultoría IT.</a:t>
            </a:r>
            <a:endParaRPr lang="en-US" sz="950" dirty="0"/>
          </a:p>
        </p:txBody>
      </p:sp>
      <p:sp>
        <p:nvSpPr>
          <p:cNvPr id="23" name="Shape 21"/>
          <p:cNvSpPr/>
          <p:nvPr/>
        </p:nvSpPr>
        <p:spPr>
          <a:xfrm>
            <a:off x="3182112" y="2926080"/>
            <a:ext cx="2724912"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3182112" y="2926080"/>
            <a:ext cx="73152" cy="1783080"/>
          </a:xfrm>
          <a:prstGeom prst="rect">
            <a:avLst/>
          </a:prstGeom>
          <a:solidFill>
            <a:srgbClr val="1B3A6B"/>
          </a:solidFill>
          <a:ln w="12700">
            <a:solidFill>
              <a:srgbClr val="1B3A6B"/>
            </a:solidFill>
            <a:prstDash val="solid"/>
          </a:ln>
        </p:spPr>
      </p:sp>
      <p:sp>
        <p:nvSpPr>
          <p:cNvPr id="25" name="Text 23"/>
          <p:cNvSpPr/>
          <p:nvPr/>
        </p:nvSpPr>
        <p:spPr>
          <a:xfrm>
            <a:off x="3346704" y="3035808"/>
            <a:ext cx="2468880" cy="365760"/>
          </a:xfrm>
          <a:prstGeom prst="rect">
            <a:avLst/>
          </a:prstGeom>
          <a:noFill/>
          <a:ln/>
        </p:spPr>
        <p:txBody>
          <a:bodyPr wrap="square" rtlCol="0" anchor="ctr"/>
          <a:lstStyle/>
          <a:p>
            <a:pPr indent="0" marL="0">
              <a:buNone/>
            </a:pPr>
            <a:r>
              <a:rPr lang="en-US" sz="1100" b="1" dirty="0">
                <a:solidFill>
                  <a:srgbClr val="334155"/>
                </a:solidFill>
                <a:latin typeface="Arial" pitchFamily="34" charset="0"/>
                <a:ea typeface="Arial" pitchFamily="34" charset="-122"/>
                <a:cs typeface="Arial" pitchFamily="34" charset="-120"/>
              </a:rPr>
              <a:t>🔄  Escalabilidad</a:t>
            </a:r>
            <a:endParaRPr lang="en-US" sz="1100" dirty="0"/>
          </a:p>
        </p:txBody>
      </p:sp>
      <p:sp>
        <p:nvSpPr>
          <p:cNvPr id="26" name="Text 24"/>
          <p:cNvSpPr/>
          <p:nvPr/>
        </p:nvSpPr>
        <p:spPr>
          <a:xfrm>
            <a:off x="3346704" y="3456432"/>
            <a:ext cx="2468880" cy="109728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XFORGE gestiona múltiples proyectos en paralelo sin degradar la calidad ni los plazos.</a:t>
            </a:r>
            <a:endParaRPr lang="en-US" sz="950" dirty="0"/>
          </a:p>
        </p:txBody>
      </p:sp>
      <p:sp>
        <p:nvSpPr>
          <p:cNvPr id="27" name="Shape 25"/>
          <p:cNvSpPr/>
          <p:nvPr/>
        </p:nvSpPr>
        <p:spPr>
          <a:xfrm>
            <a:off x="6089904" y="2926080"/>
            <a:ext cx="2724912" cy="178308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6089904" y="2926080"/>
            <a:ext cx="73152" cy="1783080"/>
          </a:xfrm>
          <a:prstGeom prst="rect">
            <a:avLst/>
          </a:prstGeom>
          <a:solidFill>
            <a:srgbClr val="8B1A1A"/>
          </a:solidFill>
          <a:ln w="12700">
            <a:solidFill>
              <a:srgbClr val="8B1A1A"/>
            </a:solidFill>
            <a:prstDash val="solid"/>
          </a:ln>
        </p:spPr>
      </p:sp>
      <p:sp>
        <p:nvSpPr>
          <p:cNvPr id="29" name="Text 27"/>
          <p:cNvSpPr/>
          <p:nvPr/>
        </p:nvSpPr>
        <p:spPr>
          <a:xfrm>
            <a:off x="6254496" y="3035808"/>
            <a:ext cx="2468880" cy="365760"/>
          </a:xfrm>
          <a:prstGeom prst="rect">
            <a:avLst/>
          </a:prstGeom>
          <a:noFill/>
          <a:ln/>
        </p:spPr>
        <p:txBody>
          <a:bodyPr wrap="square" rtlCol="0" anchor="ctr"/>
          <a:lstStyle/>
          <a:p>
            <a:pPr indent="0" marL="0">
              <a:buNone/>
            </a:pPr>
            <a:r>
              <a:rPr lang="en-US" sz="1100" b="1" dirty="0">
                <a:solidFill>
                  <a:srgbClr val="334155"/>
                </a:solidFill>
                <a:latin typeface="Arial" pitchFamily="34" charset="0"/>
                <a:ea typeface="Arial" pitchFamily="34" charset="-122"/>
                <a:cs typeface="Arial" pitchFamily="34" charset="-120"/>
              </a:rPr>
              <a:t>⭐  Experiencia cliente</a:t>
            </a:r>
            <a:endParaRPr lang="en-US" sz="1100" dirty="0"/>
          </a:p>
        </p:txBody>
      </p:sp>
      <p:sp>
        <p:nvSpPr>
          <p:cNvPr id="30" name="Text 28"/>
          <p:cNvSpPr/>
          <p:nvPr/>
        </p:nvSpPr>
        <p:spPr>
          <a:xfrm>
            <a:off x="6254496" y="3456432"/>
            <a:ext cx="2468880" cy="1097280"/>
          </a:xfrm>
          <a:prstGeom prst="rect">
            <a:avLst/>
          </a:prstGeom>
          <a:noFill/>
          <a:ln/>
        </p:spPr>
        <p:txBody>
          <a:bodyPr wrap="square" rtlCol="0" anchor="ctr"/>
          <a:lstStyle/>
          <a:p>
            <a:pPr indent="0" marL="0">
              <a:buNone/>
            </a:pPr>
            <a:r>
              <a:rPr lang="en-US" sz="950" dirty="0">
                <a:solidFill>
                  <a:srgbClr val="64748B"/>
                </a:solidFill>
                <a:latin typeface="Arial" pitchFamily="34" charset="0"/>
                <a:ea typeface="Arial" pitchFamily="34" charset="-122"/>
                <a:cs typeface="Arial" pitchFamily="34" charset="-120"/>
              </a:rPr>
              <a:t>El cliente recibe documentación profesional completa, dashboards y trazabilidad total.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62E54"/>
          </a:solidFill>
          <a:ln w="12700">
            <a:solidFill>
              <a:srgbClr val="162E54"/>
            </a:solidFill>
            <a:prstDash val="solid"/>
          </a:ln>
        </p:spPr>
      </p:sp>
      <p:sp>
        <p:nvSpPr>
          <p:cNvPr id="3" name="Shape 1"/>
          <p:cNvSpPr/>
          <p:nvPr/>
        </p:nvSpPr>
        <p:spPr>
          <a:xfrm>
            <a:off x="0" y="0"/>
            <a:ext cx="9144000" cy="64008"/>
          </a:xfrm>
          <a:prstGeom prst="rect">
            <a:avLst/>
          </a:prstGeom>
          <a:solidFill>
            <a:srgbClr val="C84A14"/>
          </a:solidFill>
          <a:ln w="12700">
            <a:solidFill>
              <a:srgbClr val="C84A14"/>
            </a:solidFill>
            <a:prstDash val="solid"/>
          </a:ln>
        </p:spPr>
      </p:sp>
      <p:sp>
        <p:nvSpPr>
          <p:cNvPr id="4" name="Text 2"/>
          <p:cNvSpPr/>
          <p:nvPr/>
        </p:nvSpPr>
        <p:spPr>
          <a:xfrm>
            <a:off x="457200" y="914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Antes vs. Después: el impacto en el día a día</a:t>
            </a:r>
            <a:endParaRPr lang="en-US" sz="2200" dirty="0"/>
          </a:p>
        </p:txBody>
      </p:sp>
      <p:sp>
        <p:nvSpPr>
          <p:cNvPr id="5" name="Text 3"/>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6" name="Shape 4"/>
          <p:cNvSpPr/>
          <p:nvPr/>
        </p:nvSpPr>
        <p:spPr>
          <a:xfrm>
            <a:off x="274320" y="667512"/>
            <a:ext cx="3931920" cy="4206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274320" y="667512"/>
            <a:ext cx="3931920" cy="320040"/>
          </a:xfrm>
          <a:prstGeom prst="rect">
            <a:avLst/>
          </a:prstGeom>
          <a:solidFill>
            <a:srgbClr val="7B2227"/>
          </a:solidFill>
          <a:ln w="12700">
            <a:solidFill>
              <a:srgbClr val="7B2227"/>
            </a:solidFill>
            <a:prstDash val="solid"/>
          </a:ln>
        </p:spPr>
      </p:sp>
      <p:sp>
        <p:nvSpPr>
          <p:cNvPr id="8" name="Text 6"/>
          <p:cNvSpPr/>
          <p:nvPr/>
        </p:nvSpPr>
        <p:spPr>
          <a:xfrm>
            <a:off x="274320" y="667512"/>
            <a:ext cx="393192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SIN XFORGE</a:t>
            </a:r>
            <a:endParaRPr lang="en-US" sz="1200" dirty="0"/>
          </a:p>
        </p:txBody>
      </p:sp>
      <p:sp>
        <p:nvSpPr>
          <p:cNvPr id="9" name="Shape 7"/>
          <p:cNvSpPr/>
          <p:nvPr/>
        </p:nvSpPr>
        <p:spPr>
          <a:xfrm>
            <a:off x="4937760" y="667512"/>
            <a:ext cx="3931920" cy="4206240"/>
          </a:xfrm>
          <a:prstGeom prst="rect">
            <a:avLst/>
          </a:prstGeom>
          <a:solidFill>
            <a:srgbClr val="FFFFFF"/>
          </a:solidFill>
          <a:ln w="12700">
            <a:solidFill>
              <a:srgbClr val="E8ECF0"/>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4937760" y="667512"/>
            <a:ext cx="3931920" cy="320040"/>
          </a:xfrm>
          <a:prstGeom prst="rect">
            <a:avLst/>
          </a:prstGeom>
          <a:solidFill>
            <a:srgbClr val="2F6B61"/>
          </a:solidFill>
          <a:ln w="12700">
            <a:solidFill>
              <a:srgbClr val="2F6B61"/>
            </a:solidFill>
            <a:prstDash val="solid"/>
          </a:ln>
        </p:spPr>
      </p:sp>
      <p:sp>
        <p:nvSpPr>
          <p:cNvPr id="11" name="Text 9"/>
          <p:cNvSpPr/>
          <p:nvPr/>
        </p:nvSpPr>
        <p:spPr>
          <a:xfrm>
            <a:off x="4937760" y="667512"/>
            <a:ext cx="3931920" cy="32004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CON XFORGE</a:t>
            </a:r>
            <a:endParaRPr lang="en-US" sz="1200" dirty="0"/>
          </a:p>
        </p:txBody>
      </p:sp>
      <p:sp>
        <p:nvSpPr>
          <p:cNvPr id="12" name="Shape 10"/>
          <p:cNvSpPr/>
          <p:nvPr/>
        </p:nvSpPr>
        <p:spPr>
          <a:xfrm>
            <a:off x="4005072" y="2423160"/>
            <a:ext cx="1133856" cy="685800"/>
          </a:xfrm>
          <a:prstGeom prst="ellipse">
            <a:avLst/>
          </a:prstGeom>
          <a:solidFill>
            <a:srgbClr val="C84A14"/>
          </a:solidFill>
          <a:ln w="12700">
            <a:solidFill>
              <a:srgbClr val="C84A14"/>
            </a:solidFill>
            <a:prstDash val="solid"/>
          </a:ln>
        </p:spPr>
      </p:sp>
      <p:sp>
        <p:nvSpPr>
          <p:cNvPr id="13" name="Text 11"/>
          <p:cNvSpPr/>
          <p:nvPr/>
        </p:nvSpPr>
        <p:spPr>
          <a:xfrm>
            <a:off x="4005072" y="2423160"/>
            <a:ext cx="1133856" cy="685800"/>
          </a:xfrm>
          <a:prstGeom prst="rect">
            <a:avLst/>
          </a:prstGeom>
          <a:noFill/>
          <a:ln/>
        </p:spPr>
        <p:txBody>
          <a:bodyPr wrap="square"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VS</a:t>
            </a:r>
            <a:endParaRPr lang="en-US" sz="1800" dirty="0"/>
          </a:p>
        </p:txBody>
      </p:sp>
      <p:sp>
        <p:nvSpPr>
          <p:cNvPr id="14" name="Text 12"/>
          <p:cNvSpPr/>
          <p:nvPr/>
        </p:nvSpPr>
        <p:spPr>
          <a:xfrm>
            <a:off x="411480" y="1078992"/>
            <a:ext cx="3657600" cy="365760"/>
          </a:xfrm>
          <a:prstGeom prst="rect">
            <a:avLst/>
          </a:prstGeom>
          <a:noFill/>
          <a:ln/>
        </p:spPr>
        <p:txBody>
          <a:bodyPr wrap="square" rtlCol="0" anchor="ctr"/>
          <a:lstStyle/>
          <a:p>
            <a:pPr indent="0" marL="0">
              <a:buNone/>
            </a:pPr>
            <a:r>
              <a:rPr lang="en-US" sz="950" dirty="0">
                <a:solidFill>
                  <a:srgbClr val="7B2227"/>
                </a:solidFill>
                <a:latin typeface="Arial" pitchFamily="34" charset="0"/>
                <a:ea typeface="Arial" pitchFamily="34" charset="-122"/>
                <a:cs typeface="Arial" pitchFamily="34" charset="-120"/>
              </a:rPr>
              <a:t>✗  Arranque de proyecto: 2-4 semanas</a:t>
            </a:r>
            <a:endParaRPr lang="en-US" sz="950" dirty="0"/>
          </a:p>
        </p:txBody>
      </p:sp>
      <p:sp>
        <p:nvSpPr>
          <p:cNvPr id="15" name="Text 13"/>
          <p:cNvSpPr/>
          <p:nvPr/>
        </p:nvSpPr>
        <p:spPr>
          <a:xfrm>
            <a:off x="411480" y="1499616"/>
            <a:ext cx="3657600" cy="365760"/>
          </a:xfrm>
          <a:prstGeom prst="rect">
            <a:avLst/>
          </a:prstGeom>
          <a:noFill/>
          <a:ln/>
        </p:spPr>
        <p:txBody>
          <a:bodyPr wrap="square" rtlCol="0" anchor="ctr"/>
          <a:lstStyle/>
          <a:p>
            <a:pPr indent="0" marL="0">
              <a:buNone/>
            </a:pPr>
            <a:r>
              <a:rPr lang="en-US" sz="950" dirty="0">
                <a:solidFill>
                  <a:srgbClr val="7B2227"/>
                </a:solidFill>
                <a:latin typeface="Arial" pitchFamily="34" charset="0"/>
                <a:ea typeface="Arial" pitchFamily="34" charset="-122"/>
                <a:cs typeface="Arial" pitchFamily="34" charset="-120"/>
              </a:rPr>
              <a:t>✗  Documentación: 8-15h por entregable</a:t>
            </a:r>
            <a:endParaRPr lang="en-US" sz="950" dirty="0"/>
          </a:p>
        </p:txBody>
      </p:sp>
      <p:sp>
        <p:nvSpPr>
          <p:cNvPr id="16" name="Text 14"/>
          <p:cNvSpPr/>
          <p:nvPr/>
        </p:nvSpPr>
        <p:spPr>
          <a:xfrm>
            <a:off x="411480" y="1920240"/>
            <a:ext cx="3657600" cy="365760"/>
          </a:xfrm>
          <a:prstGeom prst="rect">
            <a:avLst/>
          </a:prstGeom>
          <a:noFill/>
          <a:ln/>
        </p:spPr>
        <p:txBody>
          <a:bodyPr wrap="square" rtlCol="0" anchor="ctr"/>
          <a:lstStyle/>
          <a:p>
            <a:pPr indent="0" marL="0">
              <a:buNone/>
            </a:pPr>
            <a:r>
              <a:rPr lang="en-US" sz="950" dirty="0">
                <a:solidFill>
                  <a:srgbClr val="7B2227"/>
                </a:solidFill>
                <a:latin typeface="Arial" pitchFamily="34" charset="0"/>
                <a:ea typeface="Arial" pitchFamily="34" charset="-122"/>
                <a:cs typeface="Arial" pitchFamily="34" charset="-120"/>
              </a:rPr>
              <a:t>✗  Calidad variable según el consultor</a:t>
            </a:r>
            <a:endParaRPr lang="en-US" sz="950" dirty="0"/>
          </a:p>
        </p:txBody>
      </p:sp>
      <p:sp>
        <p:nvSpPr>
          <p:cNvPr id="17" name="Text 15"/>
          <p:cNvSpPr/>
          <p:nvPr/>
        </p:nvSpPr>
        <p:spPr>
          <a:xfrm>
            <a:off x="411480" y="2340864"/>
            <a:ext cx="3657600" cy="365760"/>
          </a:xfrm>
          <a:prstGeom prst="rect">
            <a:avLst/>
          </a:prstGeom>
          <a:noFill/>
          <a:ln/>
        </p:spPr>
        <p:txBody>
          <a:bodyPr wrap="square" rtlCol="0" anchor="ctr"/>
          <a:lstStyle/>
          <a:p>
            <a:pPr indent="0" marL="0">
              <a:buNone/>
            </a:pPr>
            <a:r>
              <a:rPr lang="en-US" sz="950" dirty="0">
                <a:solidFill>
                  <a:srgbClr val="7B2227"/>
                </a:solidFill>
                <a:latin typeface="Arial" pitchFamily="34" charset="0"/>
                <a:ea typeface="Arial" pitchFamily="34" charset="-122"/>
                <a:cs typeface="Arial" pitchFamily="34" charset="-120"/>
              </a:rPr>
              <a:t>✗  Difícil cumplir CMMI sin auditor</a:t>
            </a:r>
            <a:endParaRPr lang="en-US" sz="950" dirty="0"/>
          </a:p>
        </p:txBody>
      </p:sp>
      <p:sp>
        <p:nvSpPr>
          <p:cNvPr id="18" name="Text 16"/>
          <p:cNvSpPr/>
          <p:nvPr/>
        </p:nvSpPr>
        <p:spPr>
          <a:xfrm>
            <a:off x="411480" y="2761488"/>
            <a:ext cx="3657600" cy="365760"/>
          </a:xfrm>
          <a:prstGeom prst="rect">
            <a:avLst/>
          </a:prstGeom>
          <a:noFill/>
          <a:ln/>
        </p:spPr>
        <p:txBody>
          <a:bodyPr wrap="square" rtlCol="0" anchor="ctr"/>
          <a:lstStyle/>
          <a:p>
            <a:pPr indent="0" marL="0">
              <a:buNone/>
            </a:pPr>
            <a:r>
              <a:rPr lang="en-US" sz="950" dirty="0">
                <a:solidFill>
                  <a:srgbClr val="7B2227"/>
                </a:solidFill>
                <a:latin typeface="Arial" pitchFamily="34" charset="0"/>
                <a:ea typeface="Arial" pitchFamily="34" charset="-122"/>
                <a:cs typeface="Arial" pitchFamily="34" charset="-120"/>
              </a:rPr>
              <a:t>✗  Gestión de riesgos manual y reactiva</a:t>
            </a:r>
            <a:endParaRPr lang="en-US" sz="950" dirty="0"/>
          </a:p>
        </p:txBody>
      </p:sp>
      <p:sp>
        <p:nvSpPr>
          <p:cNvPr id="19" name="Text 17"/>
          <p:cNvSpPr/>
          <p:nvPr/>
        </p:nvSpPr>
        <p:spPr>
          <a:xfrm>
            <a:off x="411480" y="3182112"/>
            <a:ext cx="3657600" cy="365760"/>
          </a:xfrm>
          <a:prstGeom prst="rect">
            <a:avLst/>
          </a:prstGeom>
          <a:noFill/>
          <a:ln/>
        </p:spPr>
        <p:txBody>
          <a:bodyPr wrap="square" rtlCol="0" anchor="ctr"/>
          <a:lstStyle/>
          <a:p>
            <a:pPr indent="0" marL="0">
              <a:buNone/>
            </a:pPr>
            <a:r>
              <a:rPr lang="en-US" sz="950" dirty="0">
                <a:solidFill>
                  <a:srgbClr val="7B2227"/>
                </a:solidFill>
                <a:latin typeface="Arial" pitchFamily="34" charset="0"/>
                <a:ea typeface="Arial" pitchFamily="34" charset="-122"/>
                <a:cs typeface="Arial" pitchFamily="34" charset="-120"/>
              </a:rPr>
              <a:t>✗  Reportes tardíos e inconsistentes</a:t>
            </a:r>
            <a:endParaRPr lang="en-US" sz="950" dirty="0"/>
          </a:p>
        </p:txBody>
      </p:sp>
      <p:sp>
        <p:nvSpPr>
          <p:cNvPr id="20" name="Text 18"/>
          <p:cNvSpPr/>
          <p:nvPr/>
        </p:nvSpPr>
        <p:spPr>
          <a:xfrm>
            <a:off x="411480" y="3602736"/>
            <a:ext cx="3657600" cy="365760"/>
          </a:xfrm>
          <a:prstGeom prst="rect">
            <a:avLst/>
          </a:prstGeom>
          <a:noFill/>
          <a:ln/>
        </p:spPr>
        <p:txBody>
          <a:bodyPr wrap="square" rtlCol="0" anchor="ctr"/>
          <a:lstStyle/>
          <a:p>
            <a:pPr indent="0" marL="0">
              <a:buNone/>
            </a:pPr>
            <a:r>
              <a:rPr lang="en-US" sz="950" dirty="0">
                <a:solidFill>
                  <a:srgbClr val="7B2227"/>
                </a:solidFill>
                <a:latin typeface="Arial" pitchFamily="34" charset="0"/>
                <a:ea typeface="Arial" pitchFamily="34" charset="-122"/>
                <a:cs typeface="Arial" pitchFamily="34" charset="-120"/>
              </a:rPr>
              <a:t>✗  Sin trazabilidad en Jira/Confluence</a:t>
            </a:r>
            <a:endParaRPr lang="en-US" sz="950" dirty="0"/>
          </a:p>
        </p:txBody>
      </p:sp>
      <p:sp>
        <p:nvSpPr>
          <p:cNvPr id="21" name="Text 19"/>
          <p:cNvSpPr/>
          <p:nvPr/>
        </p:nvSpPr>
        <p:spPr>
          <a:xfrm>
            <a:off x="5074920" y="1078992"/>
            <a:ext cx="3657600" cy="365760"/>
          </a:xfrm>
          <a:prstGeom prst="rect">
            <a:avLst/>
          </a:prstGeom>
          <a:noFill/>
          <a:ln/>
        </p:spPr>
        <p:txBody>
          <a:bodyPr wrap="square" rtlCol="0" anchor="ctr"/>
          <a:lstStyle/>
          <a:p>
            <a:pPr indent="0" marL="0">
              <a:buNone/>
            </a:pPr>
            <a:r>
              <a:rPr lang="en-US" sz="950" dirty="0">
                <a:solidFill>
                  <a:srgbClr val="2F6B61"/>
                </a:solidFill>
                <a:latin typeface="Arial" pitchFamily="34" charset="0"/>
                <a:ea typeface="Arial" pitchFamily="34" charset="-122"/>
                <a:cs typeface="Arial" pitchFamily="34" charset="-120"/>
              </a:rPr>
              <a:t>✔  Arranque de proyecto: 2-4 horas</a:t>
            </a:r>
            <a:endParaRPr lang="en-US" sz="950" dirty="0"/>
          </a:p>
        </p:txBody>
      </p:sp>
      <p:sp>
        <p:nvSpPr>
          <p:cNvPr id="22" name="Text 20"/>
          <p:cNvSpPr/>
          <p:nvPr/>
        </p:nvSpPr>
        <p:spPr>
          <a:xfrm>
            <a:off x="5074920" y="1499616"/>
            <a:ext cx="3657600" cy="365760"/>
          </a:xfrm>
          <a:prstGeom prst="rect">
            <a:avLst/>
          </a:prstGeom>
          <a:noFill/>
          <a:ln/>
        </p:spPr>
        <p:txBody>
          <a:bodyPr wrap="square" rtlCol="0" anchor="ctr"/>
          <a:lstStyle/>
          <a:p>
            <a:pPr indent="0" marL="0">
              <a:buNone/>
            </a:pPr>
            <a:r>
              <a:rPr lang="en-US" sz="950" dirty="0">
                <a:solidFill>
                  <a:srgbClr val="2F6B61"/>
                </a:solidFill>
                <a:latin typeface="Arial" pitchFamily="34" charset="0"/>
                <a:ea typeface="Arial" pitchFamily="34" charset="-122"/>
                <a:cs typeface="Arial" pitchFamily="34" charset="-120"/>
              </a:rPr>
              <a:t>✔  Documentación generada automáticamente</a:t>
            </a:r>
            <a:endParaRPr lang="en-US" sz="950" dirty="0"/>
          </a:p>
        </p:txBody>
      </p:sp>
      <p:sp>
        <p:nvSpPr>
          <p:cNvPr id="23" name="Text 21"/>
          <p:cNvSpPr/>
          <p:nvPr/>
        </p:nvSpPr>
        <p:spPr>
          <a:xfrm>
            <a:off x="5074920" y="1920240"/>
            <a:ext cx="3657600" cy="365760"/>
          </a:xfrm>
          <a:prstGeom prst="rect">
            <a:avLst/>
          </a:prstGeom>
          <a:noFill/>
          <a:ln/>
        </p:spPr>
        <p:txBody>
          <a:bodyPr wrap="square" rtlCol="0" anchor="ctr"/>
          <a:lstStyle/>
          <a:p>
            <a:pPr indent="0" marL="0">
              <a:buNone/>
            </a:pPr>
            <a:r>
              <a:rPr lang="en-US" sz="950" dirty="0">
                <a:solidFill>
                  <a:srgbClr val="2F6B61"/>
                </a:solidFill>
                <a:latin typeface="Arial" pitchFamily="34" charset="0"/>
                <a:ea typeface="Arial" pitchFamily="34" charset="-122"/>
                <a:cs typeface="Arial" pitchFamily="34" charset="-120"/>
              </a:rPr>
              <a:t>✔  Calidad uniforme, estándar en todos los proyectos</a:t>
            </a:r>
            <a:endParaRPr lang="en-US" sz="950" dirty="0"/>
          </a:p>
        </p:txBody>
      </p:sp>
      <p:sp>
        <p:nvSpPr>
          <p:cNvPr id="24" name="Text 22"/>
          <p:cNvSpPr/>
          <p:nvPr/>
        </p:nvSpPr>
        <p:spPr>
          <a:xfrm>
            <a:off x="5074920" y="2340864"/>
            <a:ext cx="3657600" cy="365760"/>
          </a:xfrm>
          <a:prstGeom prst="rect">
            <a:avLst/>
          </a:prstGeom>
          <a:noFill/>
          <a:ln/>
        </p:spPr>
        <p:txBody>
          <a:bodyPr wrap="square" rtlCol="0" anchor="ctr"/>
          <a:lstStyle/>
          <a:p>
            <a:pPr indent="0" marL="0">
              <a:buNone/>
            </a:pPr>
            <a:r>
              <a:rPr lang="en-US" sz="950" dirty="0">
                <a:solidFill>
                  <a:srgbClr val="2F6B61"/>
                </a:solidFill>
                <a:latin typeface="Arial" pitchFamily="34" charset="0"/>
                <a:ea typeface="Arial" pitchFamily="34" charset="-122"/>
                <a:cs typeface="Arial" pitchFamily="34" charset="-120"/>
              </a:rPr>
              <a:t>✔  CMMI Nivel 3 nativo y verificado en cada sprint</a:t>
            </a:r>
            <a:endParaRPr lang="en-US" sz="950" dirty="0"/>
          </a:p>
        </p:txBody>
      </p:sp>
      <p:sp>
        <p:nvSpPr>
          <p:cNvPr id="25" name="Text 23"/>
          <p:cNvSpPr/>
          <p:nvPr/>
        </p:nvSpPr>
        <p:spPr>
          <a:xfrm>
            <a:off x="5074920" y="2761488"/>
            <a:ext cx="3657600" cy="365760"/>
          </a:xfrm>
          <a:prstGeom prst="rect">
            <a:avLst/>
          </a:prstGeom>
          <a:noFill/>
          <a:ln/>
        </p:spPr>
        <p:txBody>
          <a:bodyPr wrap="square" rtlCol="0" anchor="ctr"/>
          <a:lstStyle/>
          <a:p>
            <a:pPr indent="0" marL="0">
              <a:buNone/>
            </a:pPr>
            <a:r>
              <a:rPr lang="en-US" sz="950" dirty="0">
                <a:solidFill>
                  <a:srgbClr val="2F6B61"/>
                </a:solidFill>
                <a:latin typeface="Arial" pitchFamily="34" charset="0"/>
                <a:ea typeface="Arial" pitchFamily="34" charset="-122"/>
                <a:cs typeface="Arial" pitchFamily="34" charset="-120"/>
              </a:rPr>
              <a:t>✔  Registro de riesgos automático, proactivo</a:t>
            </a:r>
            <a:endParaRPr lang="en-US" sz="950" dirty="0"/>
          </a:p>
        </p:txBody>
      </p:sp>
      <p:sp>
        <p:nvSpPr>
          <p:cNvPr id="26" name="Text 24"/>
          <p:cNvSpPr/>
          <p:nvPr/>
        </p:nvSpPr>
        <p:spPr>
          <a:xfrm>
            <a:off x="5074920" y="3182112"/>
            <a:ext cx="3657600" cy="365760"/>
          </a:xfrm>
          <a:prstGeom prst="rect">
            <a:avLst/>
          </a:prstGeom>
          <a:noFill/>
          <a:ln/>
        </p:spPr>
        <p:txBody>
          <a:bodyPr wrap="square" rtlCol="0" anchor="ctr"/>
          <a:lstStyle/>
          <a:p>
            <a:pPr indent="0" marL="0">
              <a:buNone/>
            </a:pPr>
            <a:r>
              <a:rPr lang="en-US" sz="950" dirty="0">
                <a:solidFill>
                  <a:srgbClr val="2F6B61"/>
                </a:solidFill>
                <a:latin typeface="Arial" pitchFamily="34" charset="0"/>
                <a:ea typeface="Arial" pitchFamily="34" charset="-122"/>
                <a:cs typeface="Arial" pitchFamily="34" charset="-120"/>
              </a:rPr>
              <a:t>✔  Reportes en tiempo real, listos para el cliente</a:t>
            </a:r>
            <a:endParaRPr lang="en-US" sz="950" dirty="0"/>
          </a:p>
        </p:txBody>
      </p:sp>
      <p:sp>
        <p:nvSpPr>
          <p:cNvPr id="27" name="Text 25"/>
          <p:cNvSpPr/>
          <p:nvPr/>
        </p:nvSpPr>
        <p:spPr>
          <a:xfrm>
            <a:off x="5074920" y="3602736"/>
            <a:ext cx="3657600" cy="365760"/>
          </a:xfrm>
          <a:prstGeom prst="rect">
            <a:avLst/>
          </a:prstGeom>
          <a:noFill/>
          <a:ln/>
        </p:spPr>
        <p:txBody>
          <a:bodyPr wrap="square" rtlCol="0" anchor="ctr"/>
          <a:lstStyle/>
          <a:p>
            <a:pPr indent="0" marL="0">
              <a:buNone/>
            </a:pPr>
            <a:r>
              <a:rPr lang="en-US" sz="950" dirty="0">
                <a:solidFill>
                  <a:srgbClr val="2F6B61"/>
                </a:solidFill>
                <a:latin typeface="Arial" pitchFamily="34" charset="0"/>
                <a:ea typeface="Arial" pitchFamily="34" charset="-122"/>
                <a:cs typeface="Arial" pitchFamily="34" charset="-120"/>
              </a:rPr>
              <a:t>✔  Sync automático Jira + Confluence en cada gate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162E54"/>
          </a:solidFill>
          <a:ln w="12700">
            <a:solidFill>
              <a:srgbClr val="162E54"/>
            </a:solidFill>
            <a:prstDash val="solid"/>
          </a:ln>
        </p:spPr>
      </p:sp>
      <p:sp>
        <p:nvSpPr>
          <p:cNvPr id="3" name="Shape 1"/>
          <p:cNvSpPr/>
          <p:nvPr/>
        </p:nvSpPr>
        <p:spPr>
          <a:xfrm>
            <a:off x="0" y="0"/>
            <a:ext cx="9144000" cy="64008"/>
          </a:xfrm>
          <a:prstGeom prst="rect">
            <a:avLst/>
          </a:prstGeom>
          <a:solidFill>
            <a:srgbClr val="C84A14"/>
          </a:solidFill>
          <a:ln w="12700">
            <a:solidFill>
              <a:srgbClr val="C84A14"/>
            </a:solidFill>
            <a:prstDash val="solid"/>
          </a:ln>
        </p:spPr>
      </p:sp>
      <p:sp>
        <p:nvSpPr>
          <p:cNvPr id="4" name="Text 2"/>
          <p:cNvSpPr/>
          <p:nvPr/>
        </p:nvSpPr>
        <p:spPr>
          <a:xfrm>
            <a:off x="457200" y="9144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Estado actual y próximos pasos</a:t>
            </a:r>
            <a:endParaRPr lang="en-US" sz="2200" dirty="0"/>
          </a:p>
        </p:txBody>
      </p:sp>
      <p:sp>
        <p:nvSpPr>
          <p:cNvPr id="5" name="Text 3"/>
          <p:cNvSpPr/>
          <p:nvPr/>
        </p:nvSpPr>
        <p:spPr>
          <a:xfrm>
            <a:off x="7498080" y="73152"/>
            <a:ext cx="1463040" cy="411480"/>
          </a:xfrm>
          <a:prstGeom prst="rect">
            <a:avLst/>
          </a:prstGeom>
          <a:noFill/>
          <a:ln/>
        </p:spPr>
        <p:txBody>
          <a:bodyPr wrap="square" lIns="0" tIns="0" rIns="0" bIns="0" rtlCol="0" anchor="ctr"/>
          <a:lstStyle/>
          <a:p>
            <a:pPr algn="r" indent="0" marL="0">
              <a:buNone/>
            </a:pPr>
            <a:r>
              <a:rPr lang="en-US" sz="1400" b="1" dirty="0">
                <a:solidFill>
                  <a:srgbClr val="C84A14"/>
                </a:solidFill>
                <a:latin typeface="Arial Black" pitchFamily="34" charset="0"/>
                <a:ea typeface="Arial Black" pitchFamily="34" charset="-122"/>
                <a:cs typeface="Arial Black" pitchFamily="34" charset="-120"/>
              </a:rPr>
              <a:t>&gt;FORGE</a:t>
            </a:r>
            <a:endParaRPr lang="en-US" sz="1400" dirty="0"/>
          </a:p>
        </p:txBody>
      </p:sp>
      <p:sp>
        <p:nvSpPr>
          <p:cNvPr id="6" name="Shape 4"/>
          <p:cNvSpPr/>
          <p:nvPr/>
        </p:nvSpPr>
        <p:spPr>
          <a:xfrm>
            <a:off x="548640" y="2395728"/>
            <a:ext cx="8046720" cy="0"/>
          </a:xfrm>
          <a:prstGeom prst="line">
            <a:avLst/>
          </a:prstGeom>
          <a:noFill/>
          <a:ln w="25400">
            <a:solidFill>
              <a:srgbClr val="E8ECF0"/>
            </a:solidFill>
            <a:prstDash val="solid"/>
          </a:ln>
        </p:spPr>
      </p:sp>
      <p:sp>
        <p:nvSpPr>
          <p:cNvPr id="7" name="Shape 5"/>
          <p:cNvSpPr/>
          <p:nvPr/>
        </p:nvSpPr>
        <p:spPr>
          <a:xfrm>
            <a:off x="420624" y="2267712"/>
            <a:ext cx="256032" cy="256032"/>
          </a:xfrm>
          <a:prstGeom prst="ellipse">
            <a:avLst/>
          </a:prstGeom>
          <a:solidFill>
            <a:srgbClr val="2F6B61"/>
          </a:solidFill>
          <a:ln w="12700">
            <a:solidFill>
              <a:srgbClr val="2F6B61"/>
            </a:solidFill>
            <a:prstDash val="solid"/>
          </a:ln>
        </p:spPr>
      </p:sp>
      <p:sp>
        <p:nvSpPr>
          <p:cNvPr id="8" name="Text 6"/>
          <p:cNvSpPr/>
          <p:nvPr/>
        </p:nvSpPr>
        <p:spPr>
          <a:xfrm>
            <a:off x="0" y="1417320"/>
            <a:ext cx="1097280" cy="274320"/>
          </a:xfrm>
          <a:prstGeom prst="rect">
            <a:avLst/>
          </a:prstGeom>
          <a:noFill/>
          <a:ln/>
        </p:spPr>
        <p:txBody>
          <a:bodyPr wrap="square" rtlCol="0" anchor="ctr"/>
          <a:lstStyle/>
          <a:p>
            <a:pPr algn="ctr" indent="0" marL="0">
              <a:buNone/>
            </a:pPr>
            <a:r>
              <a:rPr lang="en-US" sz="1200" b="1" dirty="0">
                <a:solidFill>
                  <a:srgbClr val="2F6B61"/>
                </a:solidFill>
                <a:latin typeface="Arial Black" pitchFamily="34" charset="0"/>
                <a:ea typeface="Arial Black" pitchFamily="34" charset="-122"/>
                <a:cs typeface="Arial Black" pitchFamily="34" charset="-120"/>
              </a:rPr>
              <a:t>v1.0</a:t>
            </a:r>
            <a:endParaRPr lang="en-US" sz="1200" dirty="0"/>
          </a:p>
        </p:txBody>
      </p:sp>
      <p:sp>
        <p:nvSpPr>
          <p:cNvPr id="9" name="Text 7"/>
          <p:cNvSpPr/>
          <p:nvPr/>
        </p:nvSpPr>
        <p:spPr>
          <a:xfrm>
            <a:off x="0" y="1719072"/>
            <a:ext cx="1097280" cy="201168"/>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Nov 2025</a:t>
            </a:r>
            <a:endParaRPr lang="en-US" sz="850" dirty="0"/>
          </a:p>
        </p:txBody>
      </p:sp>
      <p:sp>
        <p:nvSpPr>
          <p:cNvPr id="10" name="Shape 8"/>
          <p:cNvSpPr/>
          <p:nvPr/>
        </p:nvSpPr>
        <p:spPr>
          <a:xfrm>
            <a:off x="164592" y="1993392"/>
            <a:ext cx="768096" cy="201168"/>
          </a:xfrm>
          <a:prstGeom prst="rect">
            <a:avLst/>
          </a:prstGeom>
          <a:solidFill>
            <a:srgbClr val="2F6B61"/>
          </a:solidFill>
          <a:ln w="12700">
            <a:solidFill>
              <a:srgbClr val="2F6B61"/>
            </a:solidFill>
            <a:prstDash val="solid"/>
          </a:ln>
        </p:spPr>
      </p:sp>
      <p:sp>
        <p:nvSpPr>
          <p:cNvPr id="11" name="Text 9"/>
          <p:cNvSpPr/>
          <p:nvPr/>
        </p:nvSpPr>
        <p:spPr>
          <a:xfrm>
            <a:off x="164592" y="1993392"/>
            <a:ext cx="768096" cy="201168"/>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Completado</a:t>
            </a:r>
            <a:endParaRPr lang="en-US" sz="700" dirty="0"/>
          </a:p>
        </p:txBody>
      </p:sp>
      <p:sp>
        <p:nvSpPr>
          <p:cNvPr id="12" name="Text 10"/>
          <p:cNvSpPr/>
          <p:nvPr/>
        </p:nvSpPr>
        <p:spPr>
          <a:xfrm>
            <a:off x="0" y="2606040"/>
            <a:ext cx="1097280" cy="502920"/>
          </a:xfrm>
          <a:prstGeom prst="rect">
            <a:avLst/>
          </a:prstGeom>
          <a:noFill/>
          <a:ln/>
        </p:spPr>
        <p:txBody>
          <a:bodyPr wrap="square" rtlCol="0" anchor="ctr"/>
          <a:lstStyle/>
          <a:p>
            <a:pPr algn="ctr" indent="0" marL="0">
              <a:buNone/>
            </a:pPr>
            <a:r>
              <a:rPr lang="en-US" sz="800" dirty="0">
                <a:solidFill>
                  <a:srgbClr val="334155"/>
                </a:solidFill>
                <a:latin typeface="Arial" pitchFamily="34" charset="0"/>
                <a:ea typeface="Arial" pitchFamily="34" charset="-122"/>
                <a:cs typeface="Arial" pitchFamily="34" charset="-120"/>
              </a:rPr>
              <a:t>Sistema base</a:t>
            </a:r>
            <a:endParaRPr lang="en-US" sz="800" dirty="0"/>
          </a:p>
          <a:p>
            <a:pPr algn="ctr" indent="0" marL="0">
              <a:buNone/>
            </a:pPr>
            <a:r>
              <a:rPr lang="en-US" sz="800" dirty="0">
                <a:solidFill>
                  <a:srgbClr val="334155"/>
                </a:solidFill>
                <a:latin typeface="Arial" pitchFamily="34" charset="0"/>
                <a:ea typeface="Arial" pitchFamily="34" charset="-122"/>
                <a:cs typeface="Arial" pitchFamily="34" charset="-120"/>
              </a:rPr>
              <a:t>10 skills</a:t>
            </a:r>
            <a:endParaRPr lang="en-US" sz="800" dirty="0"/>
          </a:p>
        </p:txBody>
      </p:sp>
      <p:sp>
        <p:nvSpPr>
          <p:cNvPr id="13" name="Shape 11"/>
          <p:cNvSpPr/>
          <p:nvPr/>
        </p:nvSpPr>
        <p:spPr>
          <a:xfrm>
            <a:off x="2157984" y="2267712"/>
            <a:ext cx="256032" cy="256032"/>
          </a:xfrm>
          <a:prstGeom prst="ellipse">
            <a:avLst/>
          </a:prstGeom>
          <a:solidFill>
            <a:srgbClr val="2F6B61"/>
          </a:solidFill>
          <a:ln w="12700">
            <a:solidFill>
              <a:srgbClr val="2F6B61"/>
            </a:solidFill>
            <a:prstDash val="solid"/>
          </a:ln>
        </p:spPr>
      </p:sp>
      <p:sp>
        <p:nvSpPr>
          <p:cNvPr id="14" name="Text 12"/>
          <p:cNvSpPr/>
          <p:nvPr/>
        </p:nvSpPr>
        <p:spPr>
          <a:xfrm>
            <a:off x="1737360" y="1417320"/>
            <a:ext cx="1097280" cy="274320"/>
          </a:xfrm>
          <a:prstGeom prst="rect">
            <a:avLst/>
          </a:prstGeom>
          <a:noFill/>
          <a:ln/>
        </p:spPr>
        <p:txBody>
          <a:bodyPr wrap="square" rtlCol="0" anchor="ctr"/>
          <a:lstStyle/>
          <a:p>
            <a:pPr algn="ctr" indent="0" marL="0">
              <a:buNone/>
            </a:pPr>
            <a:r>
              <a:rPr lang="en-US" sz="1200" b="1" dirty="0">
                <a:solidFill>
                  <a:srgbClr val="2F6B61"/>
                </a:solidFill>
                <a:latin typeface="Arial Black" pitchFamily="34" charset="0"/>
                <a:ea typeface="Arial Black" pitchFamily="34" charset="-122"/>
                <a:cs typeface="Arial Black" pitchFamily="34" charset="-120"/>
              </a:rPr>
              <a:t>v1.1</a:t>
            </a:r>
            <a:endParaRPr lang="en-US" sz="1200" dirty="0"/>
          </a:p>
        </p:txBody>
      </p:sp>
      <p:sp>
        <p:nvSpPr>
          <p:cNvPr id="15" name="Text 13"/>
          <p:cNvSpPr/>
          <p:nvPr/>
        </p:nvSpPr>
        <p:spPr>
          <a:xfrm>
            <a:off x="1737360" y="1719072"/>
            <a:ext cx="1097280" cy="201168"/>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Dic 2025</a:t>
            </a:r>
            <a:endParaRPr lang="en-US" sz="850" dirty="0"/>
          </a:p>
        </p:txBody>
      </p:sp>
      <p:sp>
        <p:nvSpPr>
          <p:cNvPr id="16" name="Shape 14"/>
          <p:cNvSpPr/>
          <p:nvPr/>
        </p:nvSpPr>
        <p:spPr>
          <a:xfrm>
            <a:off x="1901952" y="1993392"/>
            <a:ext cx="768096" cy="201168"/>
          </a:xfrm>
          <a:prstGeom prst="rect">
            <a:avLst/>
          </a:prstGeom>
          <a:solidFill>
            <a:srgbClr val="2F6B61"/>
          </a:solidFill>
          <a:ln w="12700">
            <a:solidFill>
              <a:srgbClr val="2F6B61"/>
            </a:solidFill>
            <a:prstDash val="solid"/>
          </a:ln>
        </p:spPr>
      </p:sp>
      <p:sp>
        <p:nvSpPr>
          <p:cNvPr id="17" name="Text 15"/>
          <p:cNvSpPr/>
          <p:nvPr/>
        </p:nvSpPr>
        <p:spPr>
          <a:xfrm>
            <a:off x="1901952" y="1993392"/>
            <a:ext cx="768096" cy="201168"/>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Completado</a:t>
            </a:r>
            <a:endParaRPr lang="en-US" sz="700" dirty="0"/>
          </a:p>
        </p:txBody>
      </p:sp>
      <p:sp>
        <p:nvSpPr>
          <p:cNvPr id="18" name="Text 16"/>
          <p:cNvSpPr/>
          <p:nvPr/>
        </p:nvSpPr>
        <p:spPr>
          <a:xfrm>
            <a:off x="1737360" y="2606040"/>
            <a:ext cx="1097280" cy="502920"/>
          </a:xfrm>
          <a:prstGeom prst="rect">
            <a:avLst/>
          </a:prstGeom>
          <a:noFill/>
          <a:ln/>
        </p:spPr>
        <p:txBody>
          <a:bodyPr wrap="square" rtlCol="0" anchor="ctr"/>
          <a:lstStyle/>
          <a:p>
            <a:pPr algn="ctr" indent="0" marL="0">
              <a:buNone/>
            </a:pPr>
            <a:r>
              <a:rPr lang="en-US" sz="800" dirty="0">
                <a:solidFill>
                  <a:srgbClr val="334155"/>
                </a:solidFill>
                <a:latin typeface="Arial" pitchFamily="34" charset="0"/>
                <a:ea typeface="Arial" pitchFamily="34" charset="-122"/>
                <a:cs typeface="Arial" pitchFamily="34" charset="-120"/>
              </a:rPr>
              <a:t>Agente Docs</a:t>
            </a:r>
            <a:endParaRPr lang="en-US" sz="800" dirty="0"/>
          </a:p>
          <a:p>
            <a:pPr algn="ctr" indent="0" marL="0">
              <a:buNone/>
            </a:pPr>
            <a:r>
              <a:rPr lang="en-US" sz="800" dirty="0">
                <a:solidFill>
                  <a:srgbClr val="334155"/>
                </a:solidFill>
                <a:latin typeface="Arial" pitchFamily="34" charset="0"/>
                <a:ea typeface="Arial" pitchFamily="34" charset="-122"/>
                <a:cs typeface="Arial" pitchFamily="34" charset="-120"/>
              </a:rPr>
              <a:t>15 skills</a:t>
            </a:r>
            <a:endParaRPr lang="en-US" sz="800" dirty="0"/>
          </a:p>
        </p:txBody>
      </p:sp>
      <p:sp>
        <p:nvSpPr>
          <p:cNvPr id="19" name="Shape 17"/>
          <p:cNvSpPr/>
          <p:nvPr/>
        </p:nvSpPr>
        <p:spPr>
          <a:xfrm>
            <a:off x="3849624" y="2267712"/>
            <a:ext cx="256032" cy="256032"/>
          </a:xfrm>
          <a:prstGeom prst="ellipse">
            <a:avLst/>
          </a:prstGeom>
          <a:solidFill>
            <a:srgbClr val="2F6B61"/>
          </a:solidFill>
          <a:ln w="12700">
            <a:solidFill>
              <a:srgbClr val="2F6B61"/>
            </a:solidFill>
            <a:prstDash val="solid"/>
          </a:ln>
        </p:spPr>
      </p:sp>
      <p:sp>
        <p:nvSpPr>
          <p:cNvPr id="20" name="Text 18"/>
          <p:cNvSpPr/>
          <p:nvPr/>
        </p:nvSpPr>
        <p:spPr>
          <a:xfrm>
            <a:off x="3429000" y="1417320"/>
            <a:ext cx="1097280" cy="274320"/>
          </a:xfrm>
          <a:prstGeom prst="rect">
            <a:avLst/>
          </a:prstGeom>
          <a:noFill/>
          <a:ln/>
        </p:spPr>
        <p:txBody>
          <a:bodyPr wrap="square" rtlCol="0" anchor="ctr"/>
          <a:lstStyle/>
          <a:p>
            <a:pPr algn="ctr" indent="0" marL="0">
              <a:buNone/>
            </a:pPr>
            <a:r>
              <a:rPr lang="en-US" sz="1200" b="1" dirty="0">
                <a:solidFill>
                  <a:srgbClr val="2F6B61"/>
                </a:solidFill>
                <a:latin typeface="Arial Black" pitchFamily="34" charset="0"/>
                <a:ea typeface="Arial Black" pitchFamily="34" charset="-122"/>
                <a:cs typeface="Arial Black" pitchFamily="34" charset="-120"/>
              </a:rPr>
              <a:t>v1.9</a:t>
            </a:r>
            <a:endParaRPr lang="en-US" sz="1200" dirty="0"/>
          </a:p>
        </p:txBody>
      </p:sp>
      <p:sp>
        <p:nvSpPr>
          <p:cNvPr id="21" name="Text 19"/>
          <p:cNvSpPr/>
          <p:nvPr/>
        </p:nvSpPr>
        <p:spPr>
          <a:xfrm>
            <a:off x="3429000" y="1719072"/>
            <a:ext cx="1097280" cy="201168"/>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Ene 2026</a:t>
            </a:r>
            <a:endParaRPr lang="en-US" sz="850" dirty="0"/>
          </a:p>
        </p:txBody>
      </p:sp>
      <p:sp>
        <p:nvSpPr>
          <p:cNvPr id="22" name="Shape 20"/>
          <p:cNvSpPr/>
          <p:nvPr/>
        </p:nvSpPr>
        <p:spPr>
          <a:xfrm>
            <a:off x="3593592" y="1993392"/>
            <a:ext cx="768096" cy="201168"/>
          </a:xfrm>
          <a:prstGeom prst="rect">
            <a:avLst/>
          </a:prstGeom>
          <a:solidFill>
            <a:srgbClr val="2F6B61"/>
          </a:solidFill>
          <a:ln w="12700">
            <a:solidFill>
              <a:srgbClr val="2F6B61"/>
            </a:solidFill>
            <a:prstDash val="solid"/>
          </a:ln>
        </p:spPr>
      </p:sp>
      <p:sp>
        <p:nvSpPr>
          <p:cNvPr id="23" name="Text 21"/>
          <p:cNvSpPr/>
          <p:nvPr/>
        </p:nvSpPr>
        <p:spPr>
          <a:xfrm>
            <a:off x="3593592" y="1993392"/>
            <a:ext cx="768096" cy="201168"/>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Completado</a:t>
            </a:r>
            <a:endParaRPr lang="en-US" sz="700" dirty="0"/>
          </a:p>
        </p:txBody>
      </p:sp>
      <p:sp>
        <p:nvSpPr>
          <p:cNvPr id="24" name="Text 22"/>
          <p:cNvSpPr/>
          <p:nvPr/>
        </p:nvSpPr>
        <p:spPr>
          <a:xfrm>
            <a:off x="3429000" y="2606040"/>
            <a:ext cx="1097280" cy="502920"/>
          </a:xfrm>
          <a:prstGeom prst="rect">
            <a:avLst/>
          </a:prstGeom>
          <a:noFill/>
          <a:ln/>
        </p:spPr>
        <p:txBody>
          <a:bodyPr wrap="square" rtlCol="0" anchor="ctr"/>
          <a:lstStyle/>
          <a:p>
            <a:pPr algn="ctr" indent="0" marL="0">
              <a:buNone/>
            </a:pPr>
            <a:r>
              <a:rPr lang="en-US" sz="800" dirty="0">
                <a:solidFill>
                  <a:srgbClr val="334155"/>
                </a:solidFill>
                <a:latin typeface="Arial" pitchFamily="34" charset="0"/>
                <a:ea typeface="Arial" pitchFamily="34" charset="-122"/>
                <a:cs typeface="Arial" pitchFamily="34" charset="-120"/>
              </a:rPr>
              <a:t>19 agentes</a:t>
            </a:r>
            <a:endParaRPr lang="en-US" sz="800" dirty="0"/>
          </a:p>
          <a:p>
            <a:pPr algn="ctr" indent="0" marL="0">
              <a:buNone/>
            </a:pPr>
            <a:r>
              <a:rPr lang="en-US" sz="800" dirty="0">
                <a:solidFill>
                  <a:srgbClr val="334155"/>
                </a:solidFill>
                <a:latin typeface="Arial" pitchFamily="34" charset="0"/>
                <a:ea typeface="Arial" pitchFamily="34" charset="-122"/>
                <a:cs typeface="Arial" pitchFamily="34" charset="-120"/>
              </a:rPr>
              <a:t>Atlassian sync</a:t>
            </a:r>
            <a:endParaRPr lang="en-US" sz="800" dirty="0"/>
          </a:p>
        </p:txBody>
      </p:sp>
      <p:sp>
        <p:nvSpPr>
          <p:cNvPr id="25" name="Shape 23"/>
          <p:cNvSpPr/>
          <p:nvPr/>
        </p:nvSpPr>
        <p:spPr>
          <a:xfrm>
            <a:off x="5312664" y="2267712"/>
            <a:ext cx="256032" cy="256032"/>
          </a:xfrm>
          <a:prstGeom prst="ellipse">
            <a:avLst/>
          </a:prstGeom>
          <a:solidFill>
            <a:srgbClr val="C84A14"/>
          </a:solidFill>
          <a:ln w="12700">
            <a:solidFill>
              <a:srgbClr val="C84A14"/>
            </a:solidFill>
            <a:prstDash val="solid"/>
          </a:ln>
        </p:spPr>
      </p:sp>
      <p:sp>
        <p:nvSpPr>
          <p:cNvPr id="26" name="Text 24"/>
          <p:cNvSpPr/>
          <p:nvPr/>
        </p:nvSpPr>
        <p:spPr>
          <a:xfrm>
            <a:off x="4892040" y="1417320"/>
            <a:ext cx="1097280" cy="274320"/>
          </a:xfrm>
          <a:prstGeom prst="rect">
            <a:avLst/>
          </a:prstGeom>
          <a:noFill/>
          <a:ln/>
        </p:spPr>
        <p:txBody>
          <a:bodyPr wrap="square" rtlCol="0" anchor="ctr"/>
          <a:lstStyle/>
          <a:p>
            <a:pPr algn="ctr" indent="0" marL="0">
              <a:buNone/>
            </a:pPr>
            <a:r>
              <a:rPr lang="en-US" sz="1200" b="1" dirty="0">
                <a:solidFill>
                  <a:srgbClr val="C84A14"/>
                </a:solidFill>
                <a:latin typeface="Arial Black" pitchFamily="34" charset="0"/>
                <a:ea typeface="Arial Black" pitchFamily="34" charset="-122"/>
                <a:cs typeface="Arial Black" pitchFamily="34" charset="-120"/>
              </a:rPr>
              <a:t>v2.2</a:t>
            </a:r>
            <a:endParaRPr lang="en-US" sz="1200" dirty="0"/>
          </a:p>
        </p:txBody>
      </p:sp>
      <p:sp>
        <p:nvSpPr>
          <p:cNvPr id="27" name="Text 25"/>
          <p:cNvSpPr/>
          <p:nvPr/>
        </p:nvSpPr>
        <p:spPr>
          <a:xfrm>
            <a:off x="4892040" y="1719072"/>
            <a:ext cx="1097280" cy="201168"/>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Mar 2026</a:t>
            </a:r>
            <a:endParaRPr lang="en-US" sz="850" dirty="0"/>
          </a:p>
        </p:txBody>
      </p:sp>
      <p:sp>
        <p:nvSpPr>
          <p:cNvPr id="28" name="Shape 26"/>
          <p:cNvSpPr/>
          <p:nvPr/>
        </p:nvSpPr>
        <p:spPr>
          <a:xfrm>
            <a:off x="5056632" y="1993392"/>
            <a:ext cx="768096" cy="201168"/>
          </a:xfrm>
          <a:prstGeom prst="rect">
            <a:avLst/>
          </a:prstGeom>
          <a:solidFill>
            <a:srgbClr val="C84A14"/>
          </a:solidFill>
          <a:ln w="12700">
            <a:solidFill>
              <a:srgbClr val="C84A14"/>
            </a:solidFill>
            <a:prstDash val="solid"/>
          </a:ln>
        </p:spPr>
      </p:sp>
      <p:sp>
        <p:nvSpPr>
          <p:cNvPr id="29" name="Text 27"/>
          <p:cNvSpPr/>
          <p:nvPr/>
        </p:nvSpPr>
        <p:spPr>
          <a:xfrm>
            <a:off x="5056632" y="1993392"/>
            <a:ext cx="768096" cy="201168"/>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Actual</a:t>
            </a:r>
            <a:endParaRPr lang="en-US" sz="700" dirty="0"/>
          </a:p>
        </p:txBody>
      </p:sp>
      <p:sp>
        <p:nvSpPr>
          <p:cNvPr id="30" name="Text 28"/>
          <p:cNvSpPr/>
          <p:nvPr/>
        </p:nvSpPr>
        <p:spPr>
          <a:xfrm>
            <a:off x="4892040" y="2606040"/>
            <a:ext cx="1097280" cy="502920"/>
          </a:xfrm>
          <a:prstGeom prst="rect">
            <a:avLst/>
          </a:prstGeom>
          <a:noFill/>
          <a:ln/>
        </p:spPr>
        <p:txBody>
          <a:bodyPr wrap="square" rtlCol="0" anchor="ctr"/>
          <a:lstStyle/>
          <a:p>
            <a:pPr algn="ctr" indent="0" marL="0">
              <a:buNone/>
            </a:pPr>
            <a:r>
              <a:rPr lang="en-US" sz="800" dirty="0">
                <a:solidFill>
                  <a:srgbClr val="334155"/>
                </a:solidFill>
                <a:latin typeface="Arial" pitchFamily="34" charset="0"/>
                <a:ea typeface="Arial" pitchFamily="34" charset="-122"/>
                <a:cs typeface="Arial" pitchFamily="34" charset="-120"/>
              </a:rPr>
              <a:t>20 agentes</a:t>
            </a:r>
            <a:endParaRPr lang="en-US" sz="800" dirty="0"/>
          </a:p>
          <a:p>
            <a:pPr algn="ctr" indent="0" marL="0">
              <a:buNone/>
            </a:pPr>
            <a:r>
              <a:rPr lang="en-US" sz="800" dirty="0">
                <a:solidFill>
                  <a:srgbClr val="334155"/>
                </a:solidFill>
                <a:latin typeface="Arial" pitchFamily="34" charset="0"/>
                <a:ea typeface="Arial" pitchFamily="34" charset="-122"/>
                <a:cs typeface="Arial" pitchFamily="34" charset="-120"/>
              </a:rPr>
              <a:t>FA Agent + Jenkins</a:t>
            </a:r>
            <a:endParaRPr lang="en-US" sz="800" dirty="0"/>
          </a:p>
        </p:txBody>
      </p:sp>
      <p:sp>
        <p:nvSpPr>
          <p:cNvPr id="31" name="Shape 29"/>
          <p:cNvSpPr/>
          <p:nvPr/>
        </p:nvSpPr>
        <p:spPr>
          <a:xfrm>
            <a:off x="6867144" y="2267712"/>
            <a:ext cx="256032" cy="256032"/>
          </a:xfrm>
          <a:prstGeom prst="ellipse">
            <a:avLst/>
          </a:prstGeom>
          <a:solidFill>
            <a:srgbClr val="64748B"/>
          </a:solidFill>
          <a:ln w="12700">
            <a:solidFill>
              <a:srgbClr val="64748B"/>
            </a:solidFill>
            <a:prstDash val="solid"/>
          </a:ln>
        </p:spPr>
      </p:sp>
      <p:sp>
        <p:nvSpPr>
          <p:cNvPr id="32" name="Text 30"/>
          <p:cNvSpPr/>
          <p:nvPr/>
        </p:nvSpPr>
        <p:spPr>
          <a:xfrm>
            <a:off x="6446520" y="1417320"/>
            <a:ext cx="1097280" cy="274320"/>
          </a:xfrm>
          <a:prstGeom prst="rect">
            <a:avLst/>
          </a:prstGeom>
          <a:noFill/>
          <a:ln/>
        </p:spPr>
        <p:txBody>
          <a:bodyPr wrap="square" rtlCol="0" anchor="ctr"/>
          <a:lstStyle/>
          <a:p>
            <a:pPr algn="ctr" indent="0" marL="0">
              <a:buNone/>
            </a:pPr>
            <a:r>
              <a:rPr lang="en-US" sz="1200" b="1" dirty="0">
                <a:solidFill>
                  <a:srgbClr val="64748B"/>
                </a:solidFill>
                <a:latin typeface="Arial Black" pitchFamily="34" charset="0"/>
                <a:ea typeface="Arial Black" pitchFamily="34" charset="-122"/>
                <a:cs typeface="Arial Black" pitchFamily="34" charset="-120"/>
              </a:rPr>
              <a:t>v3.0</a:t>
            </a:r>
            <a:endParaRPr lang="en-US" sz="1200" dirty="0"/>
          </a:p>
        </p:txBody>
      </p:sp>
      <p:sp>
        <p:nvSpPr>
          <p:cNvPr id="33" name="Text 31"/>
          <p:cNvSpPr/>
          <p:nvPr/>
        </p:nvSpPr>
        <p:spPr>
          <a:xfrm>
            <a:off x="6446520" y="1719072"/>
            <a:ext cx="1097280" cy="201168"/>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Jun 2026</a:t>
            </a:r>
            <a:endParaRPr lang="en-US" sz="850" dirty="0"/>
          </a:p>
        </p:txBody>
      </p:sp>
      <p:sp>
        <p:nvSpPr>
          <p:cNvPr id="34" name="Shape 32"/>
          <p:cNvSpPr/>
          <p:nvPr/>
        </p:nvSpPr>
        <p:spPr>
          <a:xfrm>
            <a:off x="6611112" y="1993392"/>
            <a:ext cx="768096" cy="201168"/>
          </a:xfrm>
          <a:prstGeom prst="rect">
            <a:avLst/>
          </a:prstGeom>
          <a:solidFill>
            <a:srgbClr val="64748B"/>
          </a:solidFill>
          <a:ln w="12700">
            <a:solidFill>
              <a:srgbClr val="64748B"/>
            </a:solidFill>
            <a:prstDash val="solid"/>
          </a:ln>
        </p:spPr>
      </p:sp>
      <p:sp>
        <p:nvSpPr>
          <p:cNvPr id="35" name="Text 33"/>
          <p:cNvSpPr/>
          <p:nvPr/>
        </p:nvSpPr>
        <p:spPr>
          <a:xfrm>
            <a:off x="6611112" y="1993392"/>
            <a:ext cx="768096" cy="201168"/>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Planificado</a:t>
            </a:r>
            <a:endParaRPr lang="en-US" sz="700" dirty="0"/>
          </a:p>
        </p:txBody>
      </p:sp>
      <p:sp>
        <p:nvSpPr>
          <p:cNvPr id="36" name="Text 34"/>
          <p:cNvSpPr/>
          <p:nvPr/>
        </p:nvSpPr>
        <p:spPr>
          <a:xfrm>
            <a:off x="6446520" y="2606040"/>
            <a:ext cx="1097280" cy="502920"/>
          </a:xfrm>
          <a:prstGeom prst="rect">
            <a:avLst/>
          </a:prstGeom>
          <a:noFill/>
          <a:ln/>
        </p:spPr>
        <p:txBody>
          <a:bodyPr wrap="square" rtlCol="0" anchor="ctr"/>
          <a:lstStyle/>
          <a:p>
            <a:pPr algn="ctr" indent="0" marL="0">
              <a:buNone/>
            </a:pPr>
            <a:r>
              <a:rPr lang="en-US" sz="800" dirty="0">
                <a:solidFill>
                  <a:srgbClr val="334155"/>
                </a:solidFill>
                <a:latin typeface="Arial" pitchFamily="34" charset="0"/>
                <a:ea typeface="Arial" pitchFamily="34" charset="-122"/>
                <a:cs typeface="Arial" pitchFamily="34" charset="-120"/>
              </a:rPr>
              <a:t>Multi-cliente</a:t>
            </a:r>
            <a:endParaRPr lang="en-US" sz="800" dirty="0"/>
          </a:p>
          <a:p>
            <a:pPr algn="ctr" indent="0" marL="0">
              <a:buNone/>
            </a:pPr>
            <a:r>
              <a:rPr lang="en-US" sz="800" dirty="0">
                <a:solidFill>
                  <a:srgbClr val="334155"/>
                </a:solidFill>
                <a:latin typeface="Arial" pitchFamily="34" charset="0"/>
                <a:ea typeface="Arial" pitchFamily="34" charset="-122"/>
                <a:cs typeface="Arial" pitchFamily="34" charset="-120"/>
              </a:rPr>
              <a:t>Dashboard exec.</a:t>
            </a:r>
            <a:endParaRPr lang="en-US" sz="800" dirty="0"/>
          </a:p>
        </p:txBody>
      </p:sp>
      <p:sp>
        <p:nvSpPr>
          <p:cNvPr id="37" name="Shape 35"/>
          <p:cNvSpPr/>
          <p:nvPr/>
        </p:nvSpPr>
        <p:spPr>
          <a:xfrm>
            <a:off x="8193024" y="2267712"/>
            <a:ext cx="256032" cy="256032"/>
          </a:xfrm>
          <a:prstGeom prst="ellipse">
            <a:avLst/>
          </a:prstGeom>
          <a:solidFill>
            <a:srgbClr val="64748B"/>
          </a:solidFill>
          <a:ln w="12700">
            <a:solidFill>
              <a:srgbClr val="64748B"/>
            </a:solidFill>
            <a:prstDash val="solid"/>
          </a:ln>
        </p:spPr>
      </p:sp>
      <p:sp>
        <p:nvSpPr>
          <p:cNvPr id="38" name="Text 36"/>
          <p:cNvSpPr/>
          <p:nvPr/>
        </p:nvSpPr>
        <p:spPr>
          <a:xfrm>
            <a:off x="7772400" y="1417320"/>
            <a:ext cx="1097280" cy="274320"/>
          </a:xfrm>
          <a:prstGeom prst="rect">
            <a:avLst/>
          </a:prstGeom>
          <a:noFill/>
          <a:ln/>
        </p:spPr>
        <p:txBody>
          <a:bodyPr wrap="square" rtlCol="0" anchor="ctr"/>
          <a:lstStyle/>
          <a:p>
            <a:pPr algn="ctr" indent="0" marL="0">
              <a:buNone/>
            </a:pPr>
            <a:r>
              <a:rPr lang="en-US" sz="1200" b="1" dirty="0">
                <a:solidFill>
                  <a:srgbClr val="64748B"/>
                </a:solidFill>
                <a:latin typeface="Arial Black" pitchFamily="34" charset="0"/>
                <a:ea typeface="Arial Black" pitchFamily="34" charset="-122"/>
                <a:cs typeface="Arial Black" pitchFamily="34" charset="-120"/>
              </a:rPr>
              <a:t>v4.0</a:t>
            </a:r>
            <a:endParaRPr lang="en-US" sz="1200" dirty="0"/>
          </a:p>
        </p:txBody>
      </p:sp>
      <p:sp>
        <p:nvSpPr>
          <p:cNvPr id="39" name="Text 37"/>
          <p:cNvSpPr/>
          <p:nvPr/>
        </p:nvSpPr>
        <p:spPr>
          <a:xfrm>
            <a:off x="7772400" y="1719072"/>
            <a:ext cx="1097280" cy="201168"/>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Dic 2026</a:t>
            </a:r>
            <a:endParaRPr lang="en-US" sz="850" dirty="0"/>
          </a:p>
        </p:txBody>
      </p:sp>
      <p:sp>
        <p:nvSpPr>
          <p:cNvPr id="40" name="Shape 38"/>
          <p:cNvSpPr/>
          <p:nvPr/>
        </p:nvSpPr>
        <p:spPr>
          <a:xfrm>
            <a:off x="7936992" y="1993392"/>
            <a:ext cx="768096" cy="201168"/>
          </a:xfrm>
          <a:prstGeom prst="rect">
            <a:avLst/>
          </a:prstGeom>
          <a:solidFill>
            <a:srgbClr val="64748B"/>
          </a:solidFill>
          <a:ln w="12700">
            <a:solidFill>
              <a:srgbClr val="64748B"/>
            </a:solidFill>
            <a:prstDash val="solid"/>
          </a:ln>
        </p:spPr>
      </p:sp>
      <p:sp>
        <p:nvSpPr>
          <p:cNvPr id="41" name="Text 39"/>
          <p:cNvSpPr/>
          <p:nvPr/>
        </p:nvSpPr>
        <p:spPr>
          <a:xfrm>
            <a:off x="7936992" y="1993392"/>
            <a:ext cx="768096" cy="201168"/>
          </a:xfrm>
          <a:prstGeom prst="rect">
            <a:avLst/>
          </a:prstGeom>
          <a:noFill/>
          <a:ln/>
        </p:spPr>
        <p:txBody>
          <a:bodyPr wrap="square"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Planificado</a:t>
            </a:r>
            <a:endParaRPr lang="en-US" sz="700" dirty="0"/>
          </a:p>
        </p:txBody>
      </p:sp>
      <p:sp>
        <p:nvSpPr>
          <p:cNvPr id="42" name="Text 40"/>
          <p:cNvSpPr/>
          <p:nvPr/>
        </p:nvSpPr>
        <p:spPr>
          <a:xfrm>
            <a:off x="7772400" y="2606040"/>
            <a:ext cx="1097280" cy="502920"/>
          </a:xfrm>
          <a:prstGeom prst="rect">
            <a:avLst/>
          </a:prstGeom>
          <a:noFill/>
          <a:ln/>
        </p:spPr>
        <p:txBody>
          <a:bodyPr wrap="square" rtlCol="0" anchor="ctr"/>
          <a:lstStyle/>
          <a:p>
            <a:pPr algn="ctr" indent="0" marL="0">
              <a:buNone/>
            </a:pPr>
            <a:r>
              <a:rPr lang="en-US" sz="800" dirty="0">
                <a:solidFill>
                  <a:srgbClr val="334155"/>
                </a:solidFill>
                <a:latin typeface="Arial" pitchFamily="34" charset="0"/>
                <a:ea typeface="Arial" pitchFamily="34" charset="-122"/>
                <a:cs typeface="Arial" pitchFamily="34" charset="-120"/>
              </a:rPr>
              <a:t>Marketplace</a:t>
            </a:r>
            <a:endParaRPr lang="en-US" sz="800" dirty="0"/>
          </a:p>
          <a:p>
            <a:pPr algn="ctr" indent="0" marL="0">
              <a:buNone/>
            </a:pPr>
            <a:r>
              <a:rPr lang="en-US" sz="800" dirty="0">
                <a:solidFill>
                  <a:srgbClr val="334155"/>
                </a:solidFill>
                <a:latin typeface="Arial" pitchFamily="34" charset="0"/>
                <a:ea typeface="Arial" pitchFamily="34" charset="-122"/>
                <a:cs typeface="Arial" pitchFamily="34" charset="-120"/>
              </a:rPr>
              <a:t>habilidades</a:t>
            </a:r>
            <a:endParaRPr lang="en-US" sz="800" dirty="0"/>
          </a:p>
        </p:txBody>
      </p:sp>
      <p:sp>
        <p:nvSpPr>
          <p:cNvPr id="43" name="Shape 41"/>
          <p:cNvSpPr/>
          <p:nvPr/>
        </p:nvSpPr>
        <p:spPr>
          <a:xfrm>
            <a:off x="274320" y="3273552"/>
            <a:ext cx="8595360" cy="1554480"/>
          </a:xfrm>
          <a:prstGeom prst="rect">
            <a:avLst/>
          </a:prstGeom>
          <a:solidFill>
            <a:srgbClr val="FFF7ED"/>
          </a:solidFill>
          <a:ln w="12700">
            <a:solidFill>
              <a:srgbClr val="F59E0B"/>
            </a:solidFill>
            <a:prstDash val="solid"/>
          </a:ln>
        </p:spPr>
      </p:sp>
      <p:sp>
        <p:nvSpPr>
          <p:cNvPr id="44" name="Text 42"/>
          <p:cNvSpPr/>
          <p:nvPr/>
        </p:nvSpPr>
        <p:spPr>
          <a:xfrm>
            <a:off x="457200" y="3337560"/>
            <a:ext cx="3657600" cy="274320"/>
          </a:xfrm>
          <a:prstGeom prst="rect">
            <a:avLst/>
          </a:prstGeom>
          <a:noFill/>
          <a:ln/>
        </p:spPr>
        <p:txBody>
          <a:bodyPr wrap="square" rtlCol="0" anchor="ctr"/>
          <a:lstStyle/>
          <a:p>
            <a:pPr indent="0" marL="0">
              <a:buNone/>
            </a:pPr>
            <a:r>
              <a:rPr lang="en-US" sz="1100" b="1" dirty="0">
                <a:solidFill>
                  <a:srgbClr val="C84A14"/>
                </a:solidFill>
                <a:latin typeface="Arial" pitchFamily="34" charset="0"/>
                <a:ea typeface="Arial" pitchFamily="34" charset="-122"/>
                <a:cs typeface="Arial" pitchFamily="34" charset="-120"/>
              </a:rPr>
              <a:t>Próximas acciones inmediatas:</a:t>
            </a:r>
            <a:endParaRPr lang="en-US" sz="1100" dirty="0"/>
          </a:p>
        </p:txBody>
      </p:sp>
      <p:sp>
        <p:nvSpPr>
          <p:cNvPr id="45" name="Text 43"/>
          <p:cNvSpPr/>
          <p:nvPr/>
        </p:nvSpPr>
        <p:spPr>
          <a:xfrm>
            <a:off x="457200" y="3657600"/>
            <a:ext cx="8229600" cy="246888"/>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Desplegar XFORGE en el primer proyecto de cliente real (Sprint 19 – Q2 2026)</a:t>
            </a:r>
            <a:endParaRPr lang="en-US" sz="950" dirty="0"/>
          </a:p>
        </p:txBody>
      </p:sp>
      <p:sp>
        <p:nvSpPr>
          <p:cNvPr id="46" name="Text 44"/>
          <p:cNvSpPr/>
          <p:nvPr/>
        </p:nvSpPr>
        <p:spPr>
          <a:xfrm>
            <a:off x="457200" y="3931920"/>
            <a:ext cx="8229600" cy="246888"/>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Activar Dashboard ejecutivo para seguimiento en tiempo real por parte de dirección</a:t>
            </a:r>
            <a:endParaRPr lang="en-US" sz="950" dirty="0"/>
          </a:p>
        </p:txBody>
      </p:sp>
      <p:sp>
        <p:nvSpPr>
          <p:cNvPr id="47" name="Text 45"/>
          <p:cNvSpPr/>
          <p:nvPr/>
        </p:nvSpPr>
        <p:spPr>
          <a:xfrm>
            <a:off x="457200" y="4206240"/>
            <a:ext cx="8229600" cy="246888"/>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Evaluar expansión a 2 proyectos en paralelo con el equipo actual</a:t>
            </a:r>
            <a:endParaRPr lang="en-US" sz="950" dirty="0"/>
          </a:p>
        </p:txBody>
      </p:sp>
      <p:sp>
        <p:nvSpPr>
          <p:cNvPr id="48" name="Text 46"/>
          <p:cNvSpPr/>
          <p:nvPr/>
        </p:nvSpPr>
        <p:spPr>
          <a:xfrm>
            <a:off x="457200" y="4480560"/>
            <a:ext cx="8229600" cy="246888"/>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Completar FEAT-017 Domiciliaciones SEPA (Sprint 19 activo)</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2E54"/>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4A14"/>
          </a:solidFill>
          <a:ln w="12700">
            <a:solidFill>
              <a:srgbClr val="C84A14"/>
            </a:solidFill>
            <a:prstDash val="solid"/>
          </a:ln>
        </p:spPr>
      </p:sp>
      <p:sp>
        <p:nvSpPr>
          <p:cNvPr id="3" name="Shape 1"/>
          <p:cNvSpPr/>
          <p:nvPr/>
        </p:nvSpPr>
        <p:spPr>
          <a:xfrm>
            <a:off x="5943600" y="731520"/>
            <a:ext cx="4114800" cy="4114800"/>
          </a:xfrm>
          <a:prstGeom prst="ellipse">
            <a:avLst/>
          </a:prstGeom>
          <a:solidFill>
            <a:srgbClr val="3D5A80">
              <a:alpha val="25000"/>
            </a:srgbClr>
          </a:solidFill>
          <a:ln w="12700">
            <a:solidFill>
              <a:srgbClr val="3D5A80"/>
            </a:solidFill>
            <a:prstDash val="solid"/>
          </a:ln>
        </p:spPr>
      </p:sp>
      <p:sp>
        <p:nvSpPr>
          <p:cNvPr id="4" name="Shape 2"/>
          <p:cNvSpPr/>
          <p:nvPr/>
        </p:nvSpPr>
        <p:spPr>
          <a:xfrm>
            <a:off x="6949440" y="1645920"/>
            <a:ext cx="2560320" cy="2560320"/>
          </a:xfrm>
          <a:prstGeom prst="ellipse">
            <a:avLst/>
          </a:prstGeom>
          <a:solidFill>
            <a:srgbClr val="2F6B61">
              <a:alpha val="22000"/>
            </a:srgbClr>
          </a:solidFill>
          <a:ln w="12700">
            <a:solidFill>
              <a:srgbClr val="2F6B61"/>
            </a:solidFill>
            <a:prstDash val="solid"/>
          </a:ln>
        </p:spPr>
      </p:sp>
      <p:sp>
        <p:nvSpPr>
          <p:cNvPr id="5" name="Text 3"/>
          <p:cNvSpPr/>
          <p:nvPr/>
        </p:nvSpPr>
        <p:spPr>
          <a:xfrm>
            <a:off x="5029200" y="914400"/>
            <a:ext cx="3840480" cy="2286000"/>
          </a:xfrm>
          <a:prstGeom prst="rect">
            <a:avLst/>
          </a:prstGeom>
          <a:noFill/>
          <a:ln/>
        </p:spPr>
        <p:txBody>
          <a:bodyPr wrap="square" lIns="0" tIns="0" rIns="0" bIns="0" rtlCol="0" anchor="ctr"/>
          <a:lstStyle/>
          <a:p>
            <a:pPr algn="ctr" indent="0" marL="0">
              <a:buNone/>
            </a:pPr>
            <a:r>
              <a:rPr lang="en-US" sz="4600" b="1" dirty="0">
                <a:solidFill>
                  <a:srgbClr val="FFFFFF"/>
                </a:solidFill>
                <a:latin typeface="Arial Black" pitchFamily="34" charset="0"/>
                <a:ea typeface="Arial Black" pitchFamily="34" charset="-122"/>
                <a:cs typeface="Arial Black" pitchFamily="34" charset="-120"/>
              </a:rPr>
              <a:t>&gt;XFORGE</a:t>
            </a:r>
            <a:endParaRPr lang="en-US" sz="4600" dirty="0"/>
          </a:p>
        </p:txBody>
      </p:sp>
      <p:sp>
        <p:nvSpPr>
          <p:cNvPr id="6" name="Text 4"/>
          <p:cNvSpPr/>
          <p:nvPr/>
        </p:nvSpPr>
        <p:spPr>
          <a:xfrm>
            <a:off x="5029200" y="3108960"/>
            <a:ext cx="3840480" cy="365760"/>
          </a:xfrm>
          <a:prstGeom prst="rect">
            <a:avLst/>
          </a:prstGeom>
          <a:noFill/>
          <a:ln/>
        </p:spPr>
        <p:txBody>
          <a:bodyPr wrap="square" rtlCol="0" anchor="ctr"/>
          <a:lstStyle/>
          <a:p>
            <a:pPr algn="ctr" indent="0" marL="0">
              <a:buNone/>
            </a:pPr>
            <a:r>
              <a:rPr lang="en-US" sz="1400" dirty="0">
                <a:solidFill>
                  <a:srgbClr val="E8ECF0"/>
                </a:solidFill>
                <a:latin typeface="Arial" pitchFamily="34" charset="0"/>
                <a:ea typeface="Arial" pitchFamily="34" charset="-122"/>
                <a:cs typeface="Arial" pitchFamily="34" charset="-120"/>
              </a:rPr>
              <a:t>SOFIA by Experis</a:t>
            </a:r>
            <a:endParaRPr lang="en-US" sz="1400" dirty="0"/>
          </a:p>
        </p:txBody>
      </p:sp>
      <p:sp>
        <p:nvSpPr>
          <p:cNvPr id="7" name="Text 5"/>
          <p:cNvSpPr/>
          <p:nvPr/>
        </p:nvSpPr>
        <p:spPr>
          <a:xfrm>
            <a:off x="5029200" y="3474720"/>
            <a:ext cx="3840480" cy="27432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ManpowerGroup</a:t>
            </a:r>
            <a:endParaRPr lang="en-US" sz="1000" dirty="0"/>
          </a:p>
        </p:txBody>
      </p:sp>
      <p:sp>
        <p:nvSpPr>
          <p:cNvPr id="8" name="Shape 6"/>
          <p:cNvSpPr/>
          <p:nvPr/>
        </p:nvSpPr>
        <p:spPr>
          <a:xfrm>
            <a:off x="365760" y="822960"/>
            <a:ext cx="91440" cy="1828800"/>
          </a:xfrm>
          <a:prstGeom prst="rect">
            <a:avLst/>
          </a:prstGeom>
          <a:solidFill>
            <a:srgbClr val="C84A14"/>
          </a:solidFill>
          <a:ln w="12700">
            <a:solidFill>
              <a:srgbClr val="C84A14"/>
            </a:solidFill>
            <a:prstDash val="solid"/>
          </a:ln>
        </p:spPr>
      </p:sp>
      <p:sp>
        <p:nvSpPr>
          <p:cNvPr id="9" name="Text 7"/>
          <p:cNvSpPr/>
          <p:nvPr/>
        </p:nvSpPr>
        <p:spPr>
          <a:xfrm>
            <a:off x="594360" y="777240"/>
            <a:ext cx="5029200" cy="1097280"/>
          </a:xfrm>
          <a:prstGeom prst="rect">
            <a:avLst/>
          </a:prstGeom>
          <a:noFill/>
          <a:ln/>
        </p:spPr>
        <p:txBody>
          <a:bodyPr wrap="square" lIns="0" tIns="0" rIns="0" bIns="0"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XFORGE está lista.</a:t>
            </a:r>
            <a:endParaRPr lang="en-US" sz="4400" dirty="0"/>
          </a:p>
        </p:txBody>
      </p:sp>
      <p:sp>
        <p:nvSpPr>
          <p:cNvPr id="10" name="Text 8"/>
          <p:cNvSpPr/>
          <p:nvPr/>
        </p:nvSpPr>
        <p:spPr>
          <a:xfrm>
            <a:off x="594360" y="1874520"/>
            <a:ext cx="5029200" cy="457200"/>
          </a:xfrm>
          <a:prstGeom prst="rect">
            <a:avLst/>
          </a:prstGeom>
          <a:noFill/>
          <a:ln/>
        </p:spPr>
        <p:txBody>
          <a:bodyPr wrap="square" lIns="0" tIns="0" rIns="0" bIns="0" rtlCol="0" anchor="ctr"/>
          <a:lstStyle/>
          <a:p>
            <a:pPr indent="0" marL="0">
              <a:buNone/>
            </a:pPr>
            <a:r>
              <a:rPr lang="en-US" sz="1800" i="1" dirty="0">
                <a:solidFill>
                  <a:srgbClr val="C84A14"/>
                </a:solidFill>
                <a:latin typeface="Arial" pitchFamily="34" charset="0"/>
                <a:ea typeface="Arial" pitchFamily="34" charset="-122"/>
                <a:cs typeface="Arial" pitchFamily="34" charset="-120"/>
              </a:rPr>
              <a:t>Forge faster. Deliver stronger.</a:t>
            </a:r>
            <a:endParaRPr lang="en-US" sz="1800" dirty="0"/>
          </a:p>
        </p:txBody>
      </p:sp>
      <p:sp>
        <p:nvSpPr>
          <p:cNvPr id="11" name="Text 9"/>
          <p:cNvSpPr/>
          <p:nvPr/>
        </p:nvSpPr>
        <p:spPr>
          <a:xfrm>
            <a:off x="594360" y="2468880"/>
            <a:ext cx="5029200" cy="1097280"/>
          </a:xfrm>
          <a:prstGeom prst="rect">
            <a:avLst/>
          </a:prstGeom>
          <a:noFill/>
          <a:ln/>
        </p:spPr>
        <p:txBody>
          <a:bodyPr wrap="square" lIns="0" tIns="0" rIns="0" bIns="0" rtlCol="0" anchor="ctr"/>
          <a:lstStyle/>
          <a:p>
            <a:pPr indent="0" marL="0">
              <a:buNone/>
            </a:pPr>
            <a:r>
              <a:rPr lang="en-US" sz="1100" dirty="0">
                <a:solidFill>
                  <a:srgbClr val="E8ECF0"/>
                </a:solidFill>
                <a:latin typeface="Arial" pitchFamily="34" charset="0"/>
                <a:ea typeface="Arial" pitchFamily="34" charset="-122"/>
                <a:cs typeface="Arial" pitchFamily="34" charset="-120"/>
              </a:rPr>
              <a:t>Experis tiene la oportunidad de convertir XFORGE en su ventaja competitiva diferencial en el mercado de consultoría tecnológica. Una factoría de 20 agentes que entrega con calidad, rapidez y documentación CMMI Nivel 3 en cada proyecto.</a:t>
            </a:r>
            <a:endParaRPr lang="en-US" sz="1100" dirty="0"/>
          </a:p>
        </p:txBody>
      </p:sp>
      <p:sp>
        <p:nvSpPr>
          <p:cNvPr id="12" name="Shape 10"/>
          <p:cNvSpPr/>
          <p:nvPr/>
        </p:nvSpPr>
        <p:spPr>
          <a:xfrm>
            <a:off x="594360" y="3749040"/>
            <a:ext cx="2560320" cy="411480"/>
          </a:xfrm>
          <a:prstGeom prst="rect">
            <a:avLst/>
          </a:prstGeom>
          <a:solidFill>
            <a:srgbClr val="C84A14"/>
          </a:solidFill>
          <a:ln w="12700">
            <a:solidFill>
              <a:srgbClr val="C84A14"/>
            </a:solidFill>
            <a:prstDash val="solid"/>
          </a:ln>
        </p:spPr>
      </p:sp>
      <p:sp>
        <p:nvSpPr>
          <p:cNvPr id="13" name="Text 11"/>
          <p:cNvSpPr/>
          <p:nvPr/>
        </p:nvSpPr>
        <p:spPr>
          <a:xfrm>
            <a:off x="594360" y="3749040"/>
            <a:ext cx="2560320" cy="411480"/>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Solicitar demostración en vivo</a:t>
            </a:r>
            <a:endParaRPr lang="en-US" sz="1100" dirty="0"/>
          </a:p>
        </p:txBody>
      </p:sp>
      <p:sp>
        <p:nvSpPr>
          <p:cNvPr id="14" name="Text 12"/>
          <p:cNvSpPr/>
          <p:nvPr/>
        </p:nvSpPr>
        <p:spPr>
          <a:xfrm>
            <a:off x="0" y="4864608"/>
            <a:ext cx="9144000" cy="201168"/>
          </a:xfrm>
          <a:prstGeom prst="rect">
            <a:avLst/>
          </a:prstGeom>
          <a:noFill/>
          <a:ln/>
        </p:spPr>
        <p:txBody>
          <a:bodyPr wrap="square" rtlCol="0" anchor="ctr"/>
          <a:lstStyle/>
          <a:p>
            <a:pPr algn="ctr" indent="0" marL="0">
              <a:buNone/>
            </a:pPr>
            <a:r>
              <a:rPr lang="en-US" sz="750" dirty="0">
                <a:solidFill>
                  <a:srgbClr val="64748B"/>
                </a:solidFill>
                <a:latin typeface="Arial" pitchFamily="34" charset="0"/>
                <a:ea typeface="Arial" pitchFamily="34" charset="-122"/>
                <a:cs typeface="Arial" pitchFamily="34" charset="-120"/>
              </a:rPr>
              <a:t>XFORGE v2.2 · 20 agentes · 13 pasos pipeline · BankPortal S18 · Powered by Experis ·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XFORGE — Factoría de Software IA — v2.2</dc:title>
  <dc:subject>PptxGenJS Presentation</dc:subject>
  <dc:creator>SOFIA by Experis</dc:creator>
  <cp:lastModifiedBy>SOFIA by Experis</cp:lastModifiedBy>
  <cp:revision>1</cp:revision>
  <dcterms:created xsi:type="dcterms:W3CDTF">2026-03-26T21:05:58Z</dcterms:created>
  <dcterms:modified xsi:type="dcterms:W3CDTF">2026-03-26T21:05:58Z</dcterms:modified>
</cp:coreProperties>
</file>